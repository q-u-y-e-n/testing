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Montserrat Bold" charset="1" panose="00000800000000000000"/>
      <p:regular r:id="rId20"/>
    </p:embeddedFont>
    <p:embeddedFont>
      <p:font typeface="Montserrat Medium" charset="1" panose="00000600000000000000"/>
      <p:regular r:id="rId21"/>
    </p:embeddedFont>
    <p:embeddedFont>
      <p:font typeface="Montserrat" charset="1" panose="00000500000000000000"/>
      <p:regular r:id="rId22"/>
    </p:embeddedFont>
    <p:embeddedFont>
      <p:font typeface="Montserrat Italics" charset="1" panose="0000050000000000000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3.pn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 Id="rId6" Target="../media/image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embeddings/oleObject1.bin" Type="http://schemas.openxmlformats.org/officeDocument/2006/relationships/oleObjec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embeddings/oleObject2.bin" Type="http://schemas.openxmlformats.org/officeDocument/2006/relationships/oleObjec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embeddings/oleObject3.bin" Type="http://schemas.openxmlformats.org/officeDocument/2006/relationships/oleObject"/><Relationship Id="rId4" Target="../media/image12.png" Type="http://schemas.openxmlformats.org/officeDocument/2006/relationships/image"/><Relationship Id="rId5" Target="../embeddings/oleObject4.bin" Type="http://schemas.openxmlformats.org/officeDocument/2006/relationships/oleObjec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embeddings/oleObject5.bin" Type="http://schemas.openxmlformats.org/officeDocument/2006/relationships/oleObjec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embeddings/oleObject6.bin" Type="http://schemas.openxmlformats.org/officeDocument/2006/relationships/oleObjec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6300" y="-304612"/>
            <a:ext cx="18714300" cy="10625419"/>
            <a:chOff x="0" y="0"/>
            <a:chExt cx="4928869" cy="2798464"/>
          </a:xfrm>
        </p:grpSpPr>
        <p:sp>
          <p:nvSpPr>
            <p:cNvPr name="Freeform 3" id="3"/>
            <p:cNvSpPr/>
            <p:nvPr/>
          </p:nvSpPr>
          <p:spPr>
            <a:xfrm flipH="false" flipV="false" rot="0">
              <a:off x="0" y="0"/>
              <a:ext cx="4928869" cy="2798464"/>
            </a:xfrm>
            <a:custGeom>
              <a:avLst/>
              <a:gdLst/>
              <a:ahLst/>
              <a:cxnLst/>
              <a:rect r="r" b="b" t="t" l="l"/>
              <a:pathLst>
                <a:path h="2798464" w="4928869">
                  <a:moveTo>
                    <a:pt x="0" y="0"/>
                  </a:moveTo>
                  <a:lnTo>
                    <a:pt x="4928869" y="0"/>
                  </a:lnTo>
                  <a:lnTo>
                    <a:pt x="4928869" y="2798464"/>
                  </a:lnTo>
                  <a:lnTo>
                    <a:pt x="0" y="2798464"/>
                  </a:lnTo>
                  <a:close/>
                </a:path>
              </a:pathLst>
            </a:custGeom>
            <a:solidFill>
              <a:srgbClr val="FFF9EF"/>
            </a:solidFill>
          </p:spPr>
        </p:sp>
        <p:sp>
          <p:nvSpPr>
            <p:cNvPr name="TextBox 4" id="4"/>
            <p:cNvSpPr txBox="true"/>
            <p:nvPr/>
          </p:nvSpPr>
          <p:spPr>
            <a:xfrm>
              <a:off x="0" y="-38100"/>
              <a:ext cx="4928869" cy="2836564"/>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3064651" y="3152720"/>
            <a:ext cx="12617597" cy="1185731"/>
          </a:xfrm>
          <a:prstGeom prst="rect">
            <a:avLst/>
          </a:prstGeom>
        </p:spPr>
        <p:txBody>
          <a:bodyPr anchor="t" rtlCol="false" tIns="0" lIns="0" bIns="0" rIns="0">
            <a:spAutoFit/>
          </a:bodyPr>
          <a:lstStyle/>
          <a:p>
            <a:pPr algn="ctr">
              <a:lnSpc>
                <a:spcPts val="9719"/>
              </a:lnSpc>
            </a:pPr>
            <a:r>
              <a:rPr lang="en-US" b="true" sz="6942">
                <a:solidFill>
                  <a:srgbClr val="DB6B48"/>
                </a:solidFill>
                <a:latin typeface="Montserrat Bold"/>
                <a:ea typeface="Montserrat Bold"/>
                <a:cs typeface="Montserrat Bold"/>
                <a:sym typeface="Montserrat Bold"/>
              </a:rPr>
              <a:t>KIỂM THỬ ĐƠN VỊ</a:t>
            </a:r>
          </a:p>
        </p:txBody>
      </p:sp>
      <p:sp>
        <p:nvSpPr>
          <p:cNvPr name="AutoShape 6" id="6"/>
          <p:cNvSpPr/>
          <p:nvPr/>
        </p:nvSpPr>
        <p:spPr>
          <a:xfrm>
            <a:off x="1518549" y="-304612"/>
            <a:ext cx="0" cy="9293727"/>
          </a:xfrm>
          <a:prstGeom prst="line">
            <a:avLst/>
          </a:prstGeom>
          <a:ln cap="flat" w="38100">
            <a:solidFill>
              <a:srgbClr val="DB6B48"/>
            </a:solidFill>
            <a:prstDash val="solid"/>
            <a:headEnd type="none" len="sm" w="sm"/>
            <a:tailEnd type="none" len="sm" w="sm"/>
          </a:ln>
        </p:spPr>
      </p:sp>
      <p:sp>
        <p:nvSpPr>
          <p:cNvPr name="AutoShape 7" id="7"/>
          <p:cNvSpPr/>
          <p:nvPr/>
        </p:nvSpPr>
        <p:spPr>
          <a:xfrm flipH="true">
            <a:off x="-3147785" y="1292468"/>
            <a:ext cx="8352970" cy="0"/>
          </a:xfrm>
          <a:prstGeom prst="line">
            <a:avLst/>
          </a:prstGeom>
          <a:ln cap="flat" w="152400">
            <a:solidFill>
              <a:srgbClr val="FF5757"/>
            </a:solidFill>
            <a:prstDash val="solid"/>
            <a:headEnd type="none" len="sm" w="sm"/>
            <a:tailEnd type="none" len="sm" w="sm"/>
          </a:ln>
        </p:spPr>
      </p:sp>
      <p:grpSp>
        <p:nvGrpSpPr>
          <p:cNvPr name="Group 8" id="8"/>
          <p:cNvGrpSpPr/>
          <p:nvPr/>
        </p:nvGrpSpPr>
        <p:grpSpPr>
          <a:xfrm rot="0">
            <a:off x="13812549" y="8559579"/>
            <a:ext cx="3446751" cy="698721"/>
            <a:chOff x="0" y="0"/>
            <a:chExt cx="907786" cy="184025"/>
          </a:xfrm>
        </p:grpSpPr>
        <p:sp>
          <p:nvSpPr>
            <p:cNvPr name="Freeform 9" id="9"/>
            <p:cNvSpPr/>
            <p:nvPr/>
          </p:nvSpPr>
          <p:spPr>
            <a:xfrm flipH="false" flipV="false" rot="0">
              <a:off x="0" y="0"/>
              <a:ext cx="907786" cy="184025"/>
            </a:xfrm>
            <a:custGeom>
              <a:avLst/>
              <a:gdLst/>
              <a:ahLst/>
              <a:cxnLst/>
              <a:rect r="r" b="b" t="t" l="l"/>
              <a:pathLst>
                <a:path h="184025" w="907786">
                  <a:moveTo>
                    <a:pt x="0" y="0"/>
                  </a:moveTo>
                  <a:lnTo>
                    <a:pt x="907786" y="0"/>
                  </a:lnTo>
                  <a:lnTo>
                    <a:pt x="907786" y="184025"/>
                  </a:lnTo>
                  <a:lnTo>
                    <a:pt x="0" y="184025"/>
                  </a:lnTo>
                  <a:close/>
                </a:path>
              </a:pathLst>
            </a:custGeom>
            <a:solidFill>
              <a:srgbClr val="DB6B48"/>
            </a:solidFill>
          </p:spPr>
        </p:sp>
        <p:sp>
          <p:nvSpPr>
            <p:cNvPr name="TextBox 10" id="10"/>
            <p:cNvSpPr txBox="true"/>
            <p:nvPr/>
          </p:nvSpPr>
          <p:spPr>
            <a:xfrm>
              <a:off x="0" y="-38100"/>
              <a:ext cx="907786" cy="222125"/>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3064651" y="7436953"/>
            <a:ext cx="7445982" cy="1552162"/>
          </a:xfrm>
          <a:prstGeom prst="rect">
            <a:avLst/>
          </a:prstGeom>
        </p:spPr>
        <p:txBody>
          <a:bodyPr anchor="t" rtlCol="false" tIns="0" lIns="0" bIns="0" rIns="0">
            <a:spAutoFit/>
          </a:bodyPr>
          <a:lstStyle/>
          <a:p>
            <a:pPr algn="l">
              <a:lnSpc>
                <a:spcPts val="3697"/>
              </a:lnSpc>
            </a:pPr>
            <a:r>
              <a:rPr lang="en-US" sz="2641" b="true">
                <a:solidFill>
                  <a:srgbClr val="000000"/>
                </a:solidFill>
                <a:latin typeface="Montserrat Medium"/>
                <a:ea typeface="Montserrat Medium"/>
                <a:cs typeface="Montserrat Medium"/>
                <a:sym typeface="Montserrat Medium"/>
              </a:rPr>
              <a:t>Sinh viên thực hiện: Châu Thị Ngọc Quyên</a:t>
            </a:r>
          </a:p>
          <a:p>
            <a:pPr algn="l">
              <a:lnSpc>
                <a:spcPts val="5071"/>
              </a:lnSpc>
            </a:pPr>
            <a:r>
              <a:rPr lang="en-US" sz="2641" b="true">
                <a:solidFill>
                  <a:srgbClr val="000000"/>
                </a:solidFill>
                <a:latin typeface="Montserrat Medium"/>
                <a:ea typeface="Montserrat Medium"/>
                <a:cs typeface="Montserrat Medium"/>
                <a:sym typeface="Montserrat Medium"/>
              </a:rPr>
              <a:t>MSSV: 1150080113</a:t>
            </a:r>
          </a:p>
          <a:p>
            <a:pPr algn="l">
              <a:lnSpc>
                <a:spcPts val="3697"/>
              </a:lnSpc>
            </a:pPr>
            <a:r>
              <a:rPr lang="en-US" sz="2641" b="true">
                <a:solidFill>
                  <a:srgbClr val="000000"/>
                </a:solidFill>
                <a:latin typeface="Montserrat Medium"/>
                <a:ea typeface="Montserrat Medium"/>
                <a:cs typeface="Montserrat Medium"/>
                <a:sym typeface="Montserrat Medium"/>
              </a:rPr>
              <a:t>Lớp: 11_ĐH_CNPM2</a:t>
            </a:r>
          </a:p>
        </p:txBody>
      </p:sp>
      <p:sp>
        <p:nvSpPr>
          <p:cNvPr name="TextBox 12" id="12"/>
          <p:cNvSpPr txBox="true"/>
          <p:nvPr/>
        </p:nvSpPr>
        <p:spPr>
          <a:xfrm rot="0">
            <a:off x="9181328" y="1045025"/>
            <a:ext cx="7445982" cy="447262"/>
          </a:xfrm>
          <a:prstGeom prst="rect">
            <a:avLst/>
          </a:prstGeom>
        </p:spPr>
        <p:txBody>
          <a:bodyPr anchor="t" rtlCol="false" tIns="0" lIns="0" bIns="0" rIns="0">
            <a:spAutoFit/>
          </a:bodyPr>
          <a:lstStyle/>
          <a:p>
            <a:pPr algn="r">
              <a:lnSpc>
                <a:spcPts val="3697"/>
              </a:lnSpc>
            </a:pPr>
            <a:r>
              <a:rPr lang="en-US" sz="2641">
                <a:solidFill>
                  <a:srgbClr val="000000"/>
                </a:solidFill>
                <a:latin typeface="Montserrat"/>
                <a:ea typeface="Montserrat"/>
                <a:cs typeface="Montserrat"/>
                <a:sym typeface="Montserrat"/>
              </a:rPr>
              <a:t>Giảng viên: ThS. Phạm Trọng Huynh</a:t>
            </a:r>
          </a:p>
        </p:txBody>
      </p:sp>
      <p:sp>
        <p:nvSpPr>
          <p:cNvPr name="TextBox 13" id="13"/>
          <p:cNvSpPr txBox="true"/>
          <p:nvPr/>
        </p:nvSpPr>
        <p:spPr>
          <a:xfrm rot="0">
            <a:off x="4524075" y="4696238"/>
            <a:ext cx="9698750" cy="447262"/>
          </a:xfrm>
          <a:prstGeom prst="rect">
            <a:avLst/>
          </a:prstGeom>
        </p:spPr>
        <p:txBody>
          <a:bodyPr anchor="t" rtlCol="false" tIns="0" lIns="0" bIns="0" rIns="0">
            <a:spAutoFit/>
          </a:bodyPr>
          <a:lstStyle/>
          <a:p>
            <a:pPr algn="ctr">
              <a:lnSpc>
                <a:spcPts val="3697"/>
              </a:lnSpc>
            </a:pPr>
            <a:r>
              <a:rPr lang="en-US" sz="2641" b="true">
                <a:solidFill>
                  <a:srgbClr val="000000"/>
                </a:solidFill>
                <a:latin typeface="Montserrat Medium"/>
                <a:ea typeface="Montserrat Medium"/>
                <a:cs typeface="Montserrat Medium"/>
                <a:sym typeface="Montserrat Medium"/>
              </a:rPr>
              <a:t>Môn Đảm bảo chất lượng và kiểm thử phần mềm</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13150" y="-169209"/>
            <a:ext cx="18714300" cy="10625419"/>
            <a:chOff x="0" y="0"/>
            <a:chExt cx="4928869" cy="2798464"/>
          </a:xfrm>
        </p:grpSpPr>
        <p:sp>
          <p:nvSpPr>
            <p:cNvPr name="Freeform 3" id="3"/>
            <p:cNvSpPr/>
            <p:nvPr/>
          </p:nvSpPr>
          <p:spPr>
            <a:xfrm flipH="false" flipV="false" rot="0">
              <a:off x="0" y="0"/>
              <a:ext cx="4928869" cy="2798464"/>
            </a:xfrm>
            <a:custGeom>
              <a:avLst/>
              <a:gdLst/>
              <a:ahLst/>
              <a:cxnLst/>
              <a:rect r="r" b="b" t="t" l="l"/>
              <a:pathLst>
                <a:path h="2798464" w="4928869">
                  <a:moveTo>
                    <a:pt x="0" y="0"/>
                  </a:moveTo>
                  <a:lnTo>
                    <a:pt x="4928869" y="0"/>
                  </a:lnTo>
                  <a:lnTo>
                    <a:pt x="4928869" y="2798464"/>
                  </a:lnTo>
                  <a:lnTo>
                    <a:pt x="0" y="2798464"/>
                  </a:lnTo>
                  <a:close/>
                </a:path>
              </a:pathLst>
            </a:custGeom>
            <a:solidFill>
              <a:srgbClr val="FFF9EF"/>
            </a:solidFill>
          </p:spPr>
        </p:sp>
        <p:sp>
          <p:nvSpPr>
            <p:cNvPr name="TextBox 4" id="4"/>
            <p:cNvSpPr txBox="true"/>
            <p:nvPr/>
          </p:nvSpPr>
          <p:spPr>
            <a:xfrm>
              <a:off x="0" y="-38100"/>
              <a:ext cx="4928869" cy="2836564"/>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6198805" y="3236671"/>
            <a:ext cx="5890389" cy="5890389"/>
            <a:chOff x="0" y="0"/>
            <a:chExt cx="13716000" cy="13716000"/>
          </a:xfrm>
        </p:grpSpPr>
        <p:sp>
          <p:nvSpPr>
            <p:cNvPr name="Freeform 6" id="6"/>
            <p:cNvSpPr/>
            <p:nvPr/>
          </p:nvSpPr>
          <p:spPr>
            <a:xfrm flipH="false" flipV="false" rot="0">
              <a:off x="0" y="0"/>
              <a:ext cx="13716000" cy="13716000"/>
            </a:xfrm>
            <a:custGeom>
              <a:avLst/>
              <a:gdLst/>
              <a:ahLst/>
              <a:cxnLst/>
              <a:rect r="r" b="b" t="t" l="l"/>
              <a:pathLst>
                <a:path h="13716000" w="13716000">
                  <a:moveTo>
                    <a:pt x="6857994" y="0"/>
                  </a:moveTo>
                  <a:lnTo>
                    <a:pt x="6858008" y="0"/>
                  </a:lnTo>
                  <a:cubicBezTo>
                    <a:pt x="10645573" y="1"/>
                    <a:pt x="13716000" y="3070429"/>
                    <a:pt x="13716000" y="6857994"/>
                  </a:cubicBezTo>
                  <a:lnTo>
                    <a:pt x="13716000" y="13716000"/>
                  </a:lnTo>
                  <a:lnTo>
                    <a:pt x="0" y="13716000"/>
                  </a:lnTo>
                  <a:lnTo>
                    <a:pt x="0" y="6857994"/>
                  </a:lnTo>
                  <a:cubicBezTo>
                    <a:pt x="0" y="3070428"/>
                    <a:pt x="3070428" y="0"/>
                    <a:pt x="6857994" y="0"/>
                  </a:cubicBezTo>
                  <a:close/>
                </a:path>
              </a:pathLst>
            </a:custGeom>
            <a:blipFill>
              <a:blip r:embed="rId2"/>
              <a:stretch>
                <a:fillRect l="0" t="-2597" r="0" b="-47496"/>
              </a:stretch>
            </a:blipFill>
            <a:ln w="114300" cap="sq">
              <a:solidFill>
                <a:srgbClr val="FFFFFF"/>
              </a:solidFill>
              <a:prstDash val="solid"/>
              <a:miter/>
            </a:ln>
          </p:spPr>
        </p:sp>
      </p:grpSp>
      <p:sp>
        <p:nvSpPr>
          <p:cNvPr name="TextBox 7" id="7"/>
          <p:cNvSpPr txBox="true"/>
          <p:nvPr/>
        </p:nvSpPr>
        <p:spPr>
          <a:xfrm rot="0">
            <a:off x="1659009" y="446117"/>
            <a:ext cx="14969982" cy="1502371"/>
          </a:xfrm>
          <a:prstGeom prst="rect">
            <a:avLst/>
          </a:prstGeom>
        </p:spPr>
        <p:txBody>
          <a:bodyPr anchor="t" rtlCol="false" tIns="0" lIns="0" bIns="0" rIns="0">
            <a:spAutoFit/>
          </a:bodyPr>
          <a:lstStyle/>
          <a:p>
            <a:pPr algn="ctr" marL="1906105" indent="-953053" lvl="1">
              <a:lnSpc>
                <a:spcPts val="12360"/>
              </a:lnSpc>
              <a:buAutoNum type="arabicPeriod" startAt="1"/>
            </a:pPr>
            <a:r>
              <a:rPr lang="en-US" sz="8828">
                <a:solidFill>
                  <a:srgbClr val="DB6B48"/>
                </a:solidFill>
                <a:latin typeface="Montserrat"/>
                <a:ea typeface="Montserrat"/>
                <a:cs typeface="Montserrat"/>
                <a:sym typeface="Montserrat"/>
              </a:rPr>
              <a:t>TỔNG QUANG ĐỀ TÀI</a:t>
            </a:r>
          </a:p>
        </p:txBody>
      </p:sp>
      <p:sp>
        <p:nvSpPr>
          <p:cNvPr name="TextBox 8" id="8"/>
          <p:cNvSpPr txBox="true"/>
          <p:nvPr/>
        </p:nvSpPr>
        <p:spPr>
          <a:xfrm rot="0">
            <a:off x="1295400" y="3665825"/>
            <a:ext cx="4293805" cy="4797159"/>
          </a:xfrm>
          <a:prstGeom prst="rect">
            <a:avLst/>
          </a:prstGeom>
        </p:spPr>
        <p:txBody>
          <a:bodyPr anchor="t" rtlCol="false" tIns="0" lIns="0" bIns="0" rIns="0">
            <a:spAutoFit/>
          </a:bodyPr>
          <a:lstStyle/>
          <a:p>
            <a:pPr algn="l" marL="501559" indent="-250780" lvl="1">
              <a:lnSpc>
                <a:spcPts val="3484"/>
              </a:lnSpc>
              <a:buFont typeface="Arial"/>
              <a:buChar char="•"/>
            </a:pPr>
            <a:r>
              <a:rPr lang="en-US" sz="2323">
                <a:solidFill>
                  <a:srgbClr val="000000"/>
                </a:solidFill>
                <a:latin typeface="Montserrat"/>
                <a:ea typeface="Montserrat"/>
                <a:cs typeface="Montserrat"/>
                <a:sym typeface="Montserrat"/>
              </a:rPr>
              <a:t>Tìm hiểu các khái niệm, nguyên tắc và tiêu chuẩn của kiểm thử đơn vị trong phát triển phần mềm.</a:t>
            </a:r>
          </a:p>
          <a:p>
            <a:pPr algn="l" marL="501559" indent="-250780" lvl="1">
              <a:lnSpc>
                <a:spcPts val="3484"/>
              </a:lnSpc>
              <a:buFont typeface="Arial"/>
              <a:buChar char="•"/>
            </a:pPr>
            <a:r>
              <a:rPr lang="en-US" sz="2323">
                <a:solidFill>
                  <a:srgbClr val="000000"/>
                </a:solidFill>
                <a:latin typeface="Montserrat"/>
                <a:ea typeface="Montserrat"/>
                <a:cs typeface="Montserrat"/>
                <a:sym typeface="Montserrat"/>
              </a:rPr>
              <a:t>So sánh sự khác nhau với các phương pháp kiểm thử khác.</a:t>
            </a:r>
          </a:p>
          <a:p>
            <a:pPr algn="l" marL="501559" indent="-250780" lvl="1">
              <a:lnSpc>
                <a:spcPts val="3484"/>
              </a:lnSpc>
              <a:buFont typeface="Arial"/>
              <a:buChar char="•"/>
            </a:pPr>
            <a:r>
              <a:rPr lang="en-US" sz="2323">
                <a:solidFill>
                  <a:srgbClr val="000000"/>
                </a:solidFill>
                <a:latin typeface="Montserrat"/>
                <a:ea typeface="Montserrat"/>
                <a:cs typeface="Montserrat"/>
                <a:sym typeface="Montserrat"/>
              </a:rPr>
              <a:t>Thực hành viết unit test kết hợp với automation test</a:t>
            </a:r>
          </a:p>
        </p:txBody>
      </p:sp>
      <p:sp>
        <p:nvSpPr>
          <p:cNvPr name="TextBox 9" id="9"/>
          <p:cNvSpPr txBox="true"/>
          <p:nvPr/>
        </p:nvSpPr>
        <p:spPr>
          <a:xfrm rot="0">
            <a:off x="12698795" y="3665825"/>
            <a:ext cx="4293805" cy="3482888"/>
          </a:xfrm>
          <a:prstGeom prst="rect">
            <a:avLst/>
          </a:prstGeom>
        </p:spPr>
        <p:txBody>
          <a:bodyPr anchor="t" rtlCol="false" tIns="0" lIns="0" bIns="0" rIns="0">
            <a:spAutoFit/>
          </a:bodyPr>
          <a:lstStyle/>
          <a:p>
            <a:pPr algn="l" marL="501559" indent="-250780" lvl="1">
              <a:lnSpc>
                <a:spcPts val="3484"/>
              </a:lnSpc>
              <a:buFont typeface="Arial"/>
              <a:buChar char="•"/>
            </a:pPr>
            <a:r>
              <a:rPr lang="en-US" sz="2323">
                <a:solidFill>
                  <a:srgbClr val="000000"/>
                </a:solidFill>
                <a:latin typeface="Montserrat"/>
                <a:ea typeface="Montserrat"/>
                <a:cs typeface="Montserrat"/>
                <a:sym typeface="Montserrat"/>
              </a:rPr>
              <a:t> Kiểm thử đơn vị là nền tảng của phát triển phần mềm chất lượng cao. Nó giúp phát hiện lỗi sớm, giảm chi phí sửa lỗi và tăng độ tin cậy của sản phẩm cuối cùng.</a:t>
            </a:r>
          </a:p>
          <a:p>
            <a:pPr algn="l">
              <a:lnSpc>
                <a:spcPts val="3484"/>
              </a:lnSpc>
            </a:pPr>
          </a:p>
        </p:txBody>
      </p:sp>
      <p:sp>
        <p:nvSpPr>
          <p:cNvPr name="TextBox 10" id="10"/>
          <p:cNvSpPr txBox="true"/>
          <p:nvPr/>
        </p:nvSpPr>
        <p:spPr>
          <a:xfrm rot="0">
            <a:off x="1295400" y="2714362"/>
            <a:ext cx="5364125" cy="522309"/>
          </a:xfrm>
          <a:prstGeom prst="rect">
            <a:avLst/>
          </a:prstGeom>
        </p:spPr>
        <p:txBody>
          <a:bodyPr anchor="t" rtlCol="false" tIns="0" lIns="0" bIns="0" rIns="0">
            <a:spAutoFit/>
          </a:bodyPr>
          <a:lstStyle/>
          <a:p>
            <a:pPr algn="l">
              <a:lnSpc>
                <a:spcPts val="4286"/>
              </a:lnSpc>
            </a:pPr>
            <a:r>
              <a:rPr lang="en-US" sz="3061" b="true">
                <a:solidFill>
                  <a:srgbClr val="000000"/>
                </a:solidFill>
                <a:latin typeface="Montserrat Medium"/>
                <a:ea typeface="Montserrat Medium"/>
                <a:cs typeface="Montserrat Medium"/>
                <a:sym typeface="Montserrat Medium"/>
              </a:rPr>
              <a:t>Mục tiêu đề tài</a:t>
            </a:r>
          </a:p>
        </p:txBody>
      </p:sp>
      <p:sp>
        <p:nvSpPr>
          <p:cNvPr name="TextBox 11" id="11"/>
          <p:cNvSpPr txBox="true"/>
          <p:nvPr/>
        </p:nvSpPr>
        <p:spPr>
          <a:xfrm rot="0">
            <a:off x="12698795" y="2714362"/>
            <a:ext cx="5364125" cy="522309"/>
          </a:xfrm>
          <a:prstGeom prst="rect">
            <a:avLst/>
          </a:prstGeom>
        </p:spPr>
        <p:txBody>
          <a:bodyPr anchor="t" rtlCol="false" tIns="0" lIns="0" bIns="0" rIns="0">
            <a:spAutoFit/>
          </a:bodyPr>
          <a:lstStyle/>
          <a:p>
            <a:pPr algn="l">
              <a:lnSpc>
                <a:spcPts val="4286"/>
              </a:lnSpc>
            </a:pPr>
            <a:r>
              <a:rPr lang="en-US" sz="3061" b="true">
                <a:solidFill>
                  <a:srgbClr val="000000"/>
                </a:solidFill>
                <a:latin typeface="Montserrat Medium"/>
                <a:ea typeface="Montserrat Medium"/>
                <a:cs typeface="Montserrat Medium"/>
                <a:sym typeface="Montserrat Medium"/>
              </a:rPr>
              <a:t>Lý do chọn đề tài</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13150" y="-169209"/>
            <a:ext cx="18714300" cy="10625419"/>
            <a:chOff x="0" y="0"/>
            <a:chExt cx="4928869" cy="2798464"/>
          </a:xfrm>
        </p:grpSpPr>
        <p:sp>
          <p:nvSpPr>
            <p:cNvPr name="Freeform 3" id="3"/>
            <p:cNvSpPr/>
            <p:nvPr/>
          </p:nvSpPr>
          <p:spPr>
            <a:xfrm flipH="false" flipV="false" rot="0">
              <a:off x="0" y="0"/>
              <a:ext cx="4928869" cy="2798464"/>
            </a:xfrm>
            <a:custGeom>
              <a:avLst/>
              <a:gdLst/>
              <a:ahLst/>
              <a:cxnLst/>
              <a:rect r="r" b="b" t="t" l="l"/>
              <a:pathLst>
                <a:path h="2798464" w="4928869">
                  <a:moveTo>
                    <a:pt x="0" y="0"/>
                  </a:moveTo>
                  <a:lnTo>
                    <a:pt x="4928869" y="0"/>
                  </a:lnTo>
                  <a:lnTo>
                    <a:pt x="4928869" y="2798464"/>
                  </a:lnTo>
                  <a:lnTo>
                    <a:pt x="0" y="2798464"/>
                  </a:lnTo>
                  <a:close/>
                </a:path>
              </a:pathLst>
            </a:custGeom>
            <a:solidFill>
              <a:srgbClr val="FFF9EF"/>
            </a:solidFill>
          </p:spPr>
        </p:sp>
        <p:sp>
          <p:nvSpPr>
            <p:cNvPr name="TextBox 4" id="4"/>
            <p:cNvSpPr txBox="true"/>
            <p:nvPr/>
          </p:nvSpPr>
          <p:spPr>
            <a:xfrm>
              <a:off x="0" y="-38100"/>
              <a:ext cx="4928869" cy="2836564"/>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511015" y="-169209"/>
            <a:ext cx="7944325" cy="10456209"/>
          </a:xfrm>
          <a:custGeom>
            <a:avLst/>
            <a:gdLst/>
            <a:ahLst/>
            <a:cxnLst/>
            <a:rect r="r" b="b" t="t" l="l"/>
            <a:pathLst>
              <a:path h="10456209" w="7944325">
                <a:moveTo>
                  <a:pt x="0" y="0"/>
                </a:moveTo>
                <a:lnTo>
                  <a:pt x="7944326" y="0"/>
                </a:lnTo>
                <a:lnTo>
                  <a:pt x="7944326" y="10456209"/>
                </a:lnTo>
                <a:lnTo>
                  <a:pt x="0" y="10456209"/>
                </a:lnTo>
                <a:lnTo>
                  <a:pt x="0" y="0"/>
                </a:lnTo>
                <a:close/>
              </a:path>
            </a:pathLst>
          </a:custGeom>
          <a:blipFill>
            <a:blip r:embed="rId2"/>
            <a:stretch>
              <a:fillRect l="0" t="-10537" r="-2281" b="-6101"/>
            </a:stretch>
          </a:blipFill>
        </p:spPr>
      </p:sp>
      <p:sp>
        <p:nvSpPr>
          <p:cNvPr name="Freeform 6" id="6"/>
          <p:cNvSpPr/>
          <p:nvPr/>
        </p:nvSpPr>
        <p:spPr>
          <a:xfrm flipH="false" flipV="false" rot="0">
            <a:off x="7512672" y="3998790"/>
            <a:ext cx="3056493" cy="2289420"/>
          </a:xfrm>
          <a:custGeom>
            <a:avLst/>
            <a:gdLst/>
            <a:ahLst/>
            <a:cxnLst/>
            <a:rect r="r" b="b" t="t" l="l"/>
            <a:pathLst>
              <a:path h="2289420" w="3056493">
                <a:moveTo>
                  <a:pt x="0" y="0"/>
                </a:moveTo>
                <a:lnTo>
                  <a:pt x="3056493" y="0"/>
                </a:lnTo>
                <a:lnTo>
                  <a:pt x="3056493" y="2289420"/>
                </a:lnTo>
                <a:lnTo>
                  <a:pt x="0" y="2289420"/>
                </a:lnTo>
                <a:lnTo>
                  <a:pt x="0" y="0"/>
                </a:lnTo>
                <a:close/>
              </a:path>
            </a:pathLst>
          </a:custGeom>
          <a:blipFill>
            <a:blip r:embed="rId3"/>
            <a:stretch>
              <a:fillRect l="0" t="0" r="0" b="0"/>
            </a:stretch>
          </a:blipFill>
        </p:spPr>
      </p:sp>
      <p:sp>
        <p:nvSpPr>
          <p:cNvPr name="Freeform 7" id="7"/>
          <p:cNvSpPr/>
          <p:nvPr/>
        </p:nvSpPr>
        <p:spPr>
          <a:xfrm flipH="false" flipV="false" rot="0">
            <a:off x="7432287" y="7734634"/>
            <a:ext cx="10136609" cy="1523666"/>
          </a:xfrm>
          <a:custGeom>
            <a:avLst/>
            <a:gdLst/>
            <a:ahLst/>
            <a:cxnLst/>
            <a:rect r="r" b="b" t="t" l="l"/>
            <a:pathLst>
              <a:path h="1523666" w="10136609">
                <a:moveTo>
                  <a:pt x="0" y="0"/>
                </a:moveTo>
                <a:lnTo>
                  <a:pt x="10136609" y="0"/>
                </a:lnTo>
                <a:lnTo>
                  <a:pt x="10136609" y="1523666"/>
                </a:lnTo>
                <a:lnTo>
                  <a:pt x="0" y="1523666"/>
                </a:lnTo>
                <a:lnTo>
                  <a:pt x="0" y="0"/>
                </a:lnTo>
                <a:close/>
              </a:path>
            </a:pathLst>
          </a:custGeom>
          <a:blipFill>
            <a:blip r:embed="rId4"/>
            <a:stretch>
              <a:fillRect l="0" t="0" r="0" b="0"/>
            </a:stretch>
          </a:blipFill>
        </p:spPr>
      </p:sp>
      <p:sp>
        <p:nvSpPr>
          <p:cNvPr name="Freeform 8" id="8"/>
          <p:cNvSpPr/>
          <p:nvPr/>
        </p:nvSpPr>
        <p:spPr>
          <a:xfrm flipH="false" flipV="false" rot="0">
            <a:off x="11546691" y="3349565"/>
            <a:ext cx="5712609" cy="2555393"/>
          </a:xfrm>
          <a:custGeom>
            <a:avLst/>
            <a:gdLst/>
            <a:ahLst/>
            <a:cxnLst/>
            <a:rect r="r" b="b" t="t" l="l"/>
            <a:pathLst>
              <a:path h="2555393" w="5712609">
                <a:moveTo>
                  <a:pt x="0" y="0"/>
                </a:moveTo>
                <a:lnTo>
                  <a:pt x="5712609" y="0"/>
                </a:lnTo>
                <a:lnTo>
                  <a:pt x="5712609" y="2555393"/>
                </a:lnTo>
                <a:lnTo>
                  <a:pt x="0" y="2555393"/>
                </a:lnTo>
                <a:lnTo>
                  <a:pt x="0" y="0"/>
                </a:lnTo>
                <a:close/>
              </a:path>
            </a:pathLst>
          </a:custGeom>
          <a:blipFill>
            <a:blip r:embed="rId5"/>
            <a:stretch>
              <a:fillRect l="-1156" t="0" r="-1156" b="0"/>
            </a:stretch>
          </a:blipFill>
        </p:spPr>
      </p:sp>
      <p:sp>
        <p:nvSpPr>
          <p:cNvPr name="Freeform 9" id="9"/>
          <p:cNvSpPr/>
          <p:nvPr/>
        </p:nvSpPr>
        <p:spPr>
          <a:xfrm flipH="false" flipV="false" rot="0">
            <a:off x="11543655" y="5925417"/>
            <a:ext cx="5712609" cy="992177"/>
          </a:xfrm>
          <a:custGeom>
            <a:avLst/>
            <a:gdLst/>
            <a:ahLst/>
            <a:cxnLst/>
            <a:rect r="r" b="b" t="t" l="l"/>
            <a:pathLst>
              <a:path h="992177" w="5712609">
                <a:moveTo>
                  <a:pt x="0" y="0"/>
                </a:moveTo>
                <a:lnTo>
                  <a:pt x="5712609" y="0"/>
                </a:lnTo>
                <a:lnTo>
                  <a:pt x="5712609" y="992178"/>
                </a:lnTo>
                <a:lnTo>
                  <a:pt x="0" y="992178"/>
                </a:lnTo>
                <a:lnTo>
                  <a:pt x="0" y="0"/>
                </a:lnTo>
                <a:close/>
              </a:path>
            </a:pathLst>
          </a:custGeom>
          <a:blipFill>
            <a:blip r:embed="rId6"/>
            <a:stretch>
              <a:fillRect l="0" t="-1506" r="0" b="-1506"/>
            </a:stretch>
          </a:blipFill>
        </p:spPr>
      </p:sp>
      <p:sp>
        <p:nvSpPr>
          <p:cNvPr name="TextBox 10" id="10"/>
          <p:cNvSpPr txBox="true"/>
          <p:nvPr/>
        </p:nvSpPr>
        <p:spPr>
          <a:xfrm rot="0">
            <a:off x="6707235" y="282500"/>
            <a:ext cx="10861661" cy="3067065"/>
          </a:xfrm>
          <a:prstGeom prst="rect">
            <a:avLst/>
          </a:prstGeom>
        </p:spPr>
        <p:txBody>
          <a:bodyPr anchor="t" rtlCol="false" tIns="0" lIns="0" bIns="0" rIns="0">
            <a:spAutoFit/>
          </a:bodyPr>
          <a:lstStyle/>
          <a:p>
            <a:pPr algn="ctr" marL="1906105" indent="-953053" lvl="1">
              <a:lnSpc>
                <a:spcPts val="12360"/>
              </a:lnSpc>
              <a:buAutoNum type="arabicPeriod" startAt="1"/>
            </a:pPr>
            <a:r>
              <a:rPr lang="en-US" sz="8828">
                <a:solidFill>
                  <a:srgbClr val="DB6B48"/>
                </a:solidFill>
                <a:latin typeface="Montserrat"/>
                <a:ea typeface="Montserrat"/>
                <a:cs typeface="Montserrat"/>
                <a:sym typeface="Montserrat"/>
              </a:rPr>
              <a:t>CÔNG NGHỆ SỬ DỤNG</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714300" cy="10625419"/>
            <a:chOff x="0" y="0"/>
            <a:chExt cx="4928869" cy="2798464"/>
          </a:xfrm>
        </p:grpSpPr>
        <p:sp>
          <p:nvSpPr>
            <p:cNvPr name="Freeform 3" id="3"/>
            <p:cNvSpPr/>
            <p:nvPr/>
          </p:nvSpPr>
          <p:spPr>
            <a:xfrm flipH="false" flipV="false" rot="0">
              <a:off x="0" y="0"/>
              <a:ext cx="4928869" cy="2798464"/>
            </a:xfrm>
            <a:custGeom>
              <a:avLst/>
              <a:gdLst/>
              <a:ahLst/>
              <a:cxnLst/>
              <a:rect r="r" b="b" t="t" l="l"/>
              <a:pathLst>
                <a:path h="2798464" w="4928869">
                  <a:moveTo>
                    <a:pt x="0" y="0"/>
                  </a:moveTo>
                  <a:lnTo>
                    <a:pt x="4928869" y="0"/>
                  </a:lnTo>
                  <a:lnTo>
                    <a:pt x="4928869" y="2798464"/>
                  </a:lnTo>
                  <a:lnTo>
                    <a:pt x="0" y="2798464"/>
                  </a:lnTo>
                  <a:close/>
                </a:path>
              </a:pathLst>
            </a:custGeom>
            <a:solidFill>
              <a:srgbClr val="FFF9EF"/>
            </a:solidFill>
          </p:spPr>
        </p:sp>
        <p:sp>
          <p:nvSpPr>
            <p:cNvPr name="TextBox 4" id="4"/>
            <p:cNvSpPr txBox="true"/>
            <p:nvPr/>
          </p:nvSpPr>
          <p:spPr>
            <a:xfrm>
              <a:off x="0" y="-38100"/>
              <a:ext cx="4928869" cy="2836564"/>
            </a:xfrm>
            <a:prstGeom prst="rect">
              <a:avLst/>
            </a:prstGeom>
          </p:spPr>
          <p:txBody>
            <a:bodyPr anchor="ctr" rtlCol="false" tIns="50800" lIns="50800" bIns="50800" rIns="50800"/>
            <a:lstStyle/>
            <a:p>
              <a:pPr algn="ctr">
                <a:lnSpc>
                  <a:spcPts val="2659"/>
                </a:lnSpc>
                <a:spcBef>
                  <a:spcPct val="0"/>
                </a:spcBef>
              </a:pPr>
            </a:p>
          </p:txBody>
        </p:sp>
      </p:grpSp>
      <p:graphicFrame>
        <p:nvGraphicFramePr>
          <p:cNvPr name="Object 5" id="5"/>
          <p:cNvGraphicFramePr/>
          <p:nvPr/>
        </p:nvGraphicFramePr>
        <p:xfrm>
          <a:off x="1622561" y="5143500"/>
          <a:ext cx="9115425" cy="2514600"/>
        </p:xfrm>
        <a:graphic>
          <a:graphicData uri="http://schemas.openxmlformats.org/presentationml/2006/ole">
            <p:oleObj imgW="10934700" imgH="43307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6" id="6"/>
          <p:cNvSpPr txBox="true"/>
          <p:nvPr/>
        </p:nvSpPr>
        <p:spPr>
          <a:xfrm rot="0">
            <a:off x="2381459" y="196552"/>
            <a:ext cx="13098781" cy="1502371"/>
          </a:xfrm>
          <a:prstGeom prst="rect">
            <a:avLst/>
          </a:prstGeom>
        </p:spPr>
        <p:txBody>
          <a:bodyPr anchor="t" rtlCol="false" tIns="0" lIns="0" bIns="0" rIns="0">
            <a:spAutoFit/>
          </a:bodyPr>
          <a:lstStyle/>
          <a:p>
            <a:pPr algn="ctr" marL="1906105" indent="-953053" lvl="1">
              <a:lnSpc>
                <a:spcPts val="12360"/>
              </a:lnSpc>
              <a:buAutoNum type="arabicPeriod" startAt="1"/>
            </a:pPr>
            <a:r>
              <a:rPr lang="en-US" sz="8828">
                <a:solidFill>
                  <a:srgbClr val="DB6B48"/>
                </a:solidFill>
                <a:latin typeface="Montserrat"/>
                <a:ea typeface="Montserrat"/>
                <a:cs typeface="Montserrat"/>
                <a:sym typeface="Montserrat"/>
              </a:rPr>
              <a:t>KIỂM THỬ ĐƠN VỊ</a:t>
            </a:r>
          </a:p>
        </p:txBody>
      </p:sp>
      <p:sp>
        <p:nvSpPr>
          <p:cNvPr name="TextBox 7" id="7"/>
          <p:cNvSpPr txBox="true"/>
          <p:nvPr/>
        </p:nvSpPr>
        <p:spPr>
          <a:xfrm rot="0">
            <a:off x="1028700" y="2230131"/>
            <a:ext cx="7191015" cy="2390216"/>
          </a:xfrm>
          <a:prstGeom prst="rect">
            <a:avLst/>
          </a:prstGeom>
        </p:spPr>
        <p:txBody>
          <a:bodyPr anchor="t" rtlCol="false" tIns="0" lIns="0" bIns="0" rIns="0">
            <a:spAutoFit/>
          </a:bodyPr>
          <a:lstStyle/>
          <a:p>
            <a:pPr algn="l" marL="587917" indent="-293959" lvl="1">
              <a:lnSpc>
                <a:spcPts val="4847"/>
              </a:lnSpc>
              <a:buFont typeface="Arial"/>
              <a:buChar char="•"/>
            </a:pPr>
            <a:r>
              <a:rPr lang="en-US" b="true" sz="2723">
                <a:solidFill>
                  <a:srgbClr val="000000"/>
                </a:solidFill>
                <a:latin typeface="Montserrat Bold"/>
                <a:ea typeface="Montserrat Bold"/>
                <a:cs typeface="Montserrat Bold"/>
                <a:sym typeface="Montserrat Bold"/>
              </a:rPr>
              <a:t>Kiểm thử đơn vị (unit test): </a:t>
            </a:r>
            <a:r>
              <a:rPr lang="en-US" sz="2723">
                <a:solidFill>
                  <a:srgbClr val="000000"/>
                </a:solidFill>
                <a:latin typeface="Montserrat"/>
                <a:ea typeface="Montserrat"/>
                <a:cs typeface="Montserrat"/>
                <a:sym typeface="Montserrat"/>
              </a:rPr>
              <a:t>là một loại kiểm thử phần mềm tập trung vào kiểm tra từng phần nhỏ và cụ thể là mã nguồn.</a:t>
            </a:r>
          </a:p>
        </p:txBody>
      </p:sp>
      <p:sp>
        <p:nvSpPr>
          <p:cNvPr name="TextBox 8" id="8"/>
          <p:cNvSpPr txBox="true"/>
          <p:nvPr/>
        </p:nvSpPr>
        <p:spPr>
          <a:xfrm rot="0">
            <a:off x="9958122" y="2230131"/>
            <a:ext cx="7783760" cy="1780616"/>
          </a:xfrm>
          <a:prstGeom prst="rect">
            <a:avLst/>
          </a:prstGeom>
        </p:spPr>
        <p:txBody>
          <a:bodyPr anchor="t" rtlCol="false" tIns="0" lIns="0" bIns="0" rIns="0">
            <a:spAutoFit/>
          </a:bodyPr>
          <a:lstStyle/>
          <a:p>
            <a:pPr algn="l" marL="587917" indent="-293959" lvl="1">
              <a:lnSpc>
                <a:spcPts val="4847"/>
              </a:lnSpc>
              <a:buFont typeface="Arial"/>
              <a:buChar char="•"/>
            </a:pPr>
            <a:r>
              <a:rPr lang="en-US" b="true" sz="2723">
                <a:solidFill>
                  <a:srgbClr val="000000"/>
                </a:solidFill>
                <a:latin typeface="Montserrat Bold"/>
                <a:ea typeface="Montserrat Bold"/>
                <a:cs typeface="Montserrat Bold"/>
                <a:sym typeface="Montserrat Bold"/>
              </a:rPr>
              <a:t>Mục tiêu chính:</a:t>
            </a:r>
            <a:r>
              <a:rPr lang="en-US" sz="2723">
                <a:solidFill>
                  <a:srgbClr val="000000"/>
                </a:solidFill>
                <a:latin typeface="Montserrat"/>
                <a:ea typeface="Montserrat"/>
                <a:cs typeface="Montserrat"/>
                <a:sym typeface="Montserrat"/>
              </a:rPr>
              <a:t> là xác định các </a:t>
            </a:r>
            <a:r>
              <a:rPr lang="en-US" sz="2723" i="true" u="sng">
                <a:solidFill>
                  <a:srgbClr val="000000"/>
                </a:solidFill>
                <a:latin typeface="Montserrat Italics"/>
                <a:ea typeface="Montserrat Italics"/>
                <a:cs typeface="Montserrat Italics"/>
                <a:sym typeface="Montserrat Italics"/>
              </a:rPr>
              <a:t>hàm, phương thức hoặc lớp </a:t>
            </a:r>
            <a:r>
              <a:rPr lang="en-US" sz="2723">
                <a:solidFill>
                  <a:srgbClr val="000000"/>
                </a:solidFill>
                <a:latin typeface="Montserrat"/>
                <a:ea typeface="Montserrat"/>
                <a:cs typeface="Montserrat"/>
                <a:sym typeface="Montserrat"/>
              </a:rPr>
              <a:t>đã hoạt động đúng khi được kiểm tra độc lập.</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714300" cy="10625419"/>
            <a:chOff x="0" y="0"/>
            <a:chExt cx="4928869" cy="2798464"/>
          </a:xfrm>
        </p:grpSpPr>
        <p:sp>
          <p:nvSpPr>
            <p:cNvPr name="Freeform 3" id="3"/>
            <p:cNvSpPr/>
            <p:nvPr/>
          </p:nvSpPr>
          <p:spPr>
            <a:xfrm flipH="false" flipV="false" rot="0">
              <a:off x="0" y="0"/>
              <a:ext cx="4928869" cy="2798464"/>
            </a:xfrm>
            <a:custGeom>
              <a:avLst/>
              <a:gdLst/>
              <a:ahLst/>
              <a:cxnLst/>
              <a:rect r="r" b="b" t="t" l="l"/>
              <a:pathLst>
                <a:path h="2798464" w="4928869">
                  <a:moveTo>
                    <a:pt x="0" y="0"/>
                  </a:moveTo>
                  <a:lnTo>
                    <a:pt x="4928869" y="0"/>
                  </a:lnTo>
                  <a:lnTo>
                    <a:pt x="4928869" y="2798464"/>
                  </a:lnTo>
                  <a:lnTo>
                    <a:pt x="0" y="2798464"/>
                  </a:lnTo>
                  <a:close/>
                </a:path>
              </a:pathLst>
            </a:custGeom>
            <a:solidFill>
              <a:srgbClr val="FFF9EF"/>
            </a:solidFill>
          </p:spPr>
        </p:sp>
        <p:sp>
          <p:nvSpPr>
            <p:cNvPr name="TextBox 4" id="4"/>
            <p:cNvSpPr txBox="true"/>
            <p:nvPr/>
          </p:nvSpPr>
          <p:spPr>
            <a:xfrm>
              <a:off x="0" y="-38100"/>
              <a:ext cx="4928869" cy="2836564"/>
            </a:xfrm>
            <a:prstGeom prst="rect">
              <a:avLst/>
            </a:prstGeom>
          </p:spPr>
          <p:txBody>
            <a:bodyPr anchor="ctr" rtlCol="false" tIns="50800" lIns="50800" bIns="50800" rIns="50800"/>
            <a:lstStyle/>
            <a:p>
              <a:pPr algn="ctr">
                <a:lnSpc>
                  <a:spcPts val="2659"/>
                </a:lnSpc>
                <a:spcBef>
                  <a:spcPct val="0"/>
                </a:spcBef>
              </a:pPr>
            </a:p>
          </p:txBody>
        </p:sp>
      </p:grpSp>
      <p:graphicFrame>
        <p:nvGraphicFramePr>
          <p:cNvPr name="Object 5" id="5"/>
          <p:cNvGraphicFramePr/>
          <p:nvPr/>
        </p:nvGraphicFramePr>
        <p:xfrm>
          <a:off x="2954279" y="2807042"/>
          <a:ext cx="9115425" cy="3143250"/>
        </p:xfrm>
        <a:graphic>
          <a:graphicData uri="http://schemas.openxmlformats.org/presentationml/2006/ole">
            <p:oleObj imgW="10934700" imgH="49530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6" id="6"/>
          <p:cNvSpPr txBox="true"/>
          <p:nvPr/>
        </p:nvSpPr>
        <p:spPr>
          <a:xfrm rot="0">
            <a:off x="2381459" y="196552"/>
            <a:ext cx="13098781" cy="1502371"/>
          </a:xfrm>
          <a:prstGeom prst="rect">
            <a:avLst/>
          </a:prstGeom>
        </p:spPr>
        <p:txBody>
          <a:bodyPr anchor="t" rtlCol="false" tIns="0" lIns="0" bIns="0" rIns="0">
            <a:spAutoFit/>
          </a:bodyPr>
          <a:lstStyle/>
          <a:p>
            <a:pPr algn="ctr" marL="1906105" indent="-953053" lvl="1">
              <a:lnSpc>
                <a:spcPts val="12360"/>
              </a:lnSpc>
              <a:buAutoNum type="arabicPeriod" startAt="1"/>
            </a:pPr>
            <a:r>
              <a:rPr lang="en-US" sz="8828">
                <a:solidFill>
                  <a:srgbClr val="DB6B48"/>
                </a:solidFill>
                <a:latin typeface="Montserrat"/>
                <a:ea typeface="Montserrat"/>
                <a:cs typeface="Montserrat"/>
                <a:sym typeface="Montserrat"/>
              </a:rPr>
              <a:t>KIỂM THỬ ĐƠN VỊ</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F9EF"/>
        </a:solidFill>
      </p:bgPr>
    </p:bg>
    <p:spTree>
      <p:nvGrpSpPr>
        <p:cNvPr id="1" name=""/>
        <p:cNvGrpSpPr/>
        <p:nvPr/>
      </p:nvGrpSpPr>
      <p:grpSpPr>
        <a:xfrm>
          <a:off x="0" y="0"/>
          <a:ext cx="0" cy="0"/>
          <a:chOff x="0" y="0"/>
          <a:chExt cx="0" cy="0"/>
        </a:xfrm>
      </p:grpSpPr>
      <p:grpSp>
        <p:nvGrpSpPr>
          <p:cNvPr name="Group 2" id="2"/>
          <p:cNvGrpSpPr/>
          <p:nvPr/>
        </p:nvGrpSpPr>
        <p:grpSpPr>
          <a:xfrm rot="0">
            <a:off x="0" y="0"/>
            <a:ext cx="18714300" cy="10625419"/>
            <a:chOff x="0" y="0"/>
            <a:chExt cx="4928869" cy="2798464"/>
          </a:xfrm>
        </p:grpSpPr>
        <p:sp>
          <p:nvSpPr>
            <p:cNvPr name="Freeform 3" id="3"/>
            <p:cNvSpPr/>
            <p:nvPr/>
          </p:nvSpPr>
          <p:spPr>
            <a:xfrm flipH="false" flipV="false" rot="0">
              <a:off x="0" y="0"/>
              <a:ext cx="4928869" cy="2798464"/>
            </a:xfrm>
            <a:custGeom>
              <a:avLst/>
              <a:gdLst/>
              <a:ahLst/>
              <a:cxnLst/>
              <a:rect r="r" b="b" t="t" l="l"/>
              <a:pathLst>
                <a:path h="2798464" w="4928869">
                  <a:moveTo>
                    <a:pt x="0" y="0"/>
                  </a:moveTo>
                  <a:lnTo>
                    <a:pt x="4928869" y="0"/>
                  </a:lnTo>
                  <a:lnTo>
                    <a:pt x="4928869" y="2798464"/>
                  </a:lnTo>
                  <a:lnTo>
                    <a:pt x="0" y="2798464"/>
                  </a:lnTo>
                  <a:close/>
                </a:path>
              </a:pathLst>
            </a:custGeom>
            <a:solidFill>
              <a:srgbClr val="FFF9EF"/>
            </a:solidFill>
          </p:spPr>
        </p:sp>
        <p:sp>
          <p:nvSpPr>
            <p:cNvPr name="TextBox 4" id="4"/>
            <p:cNvSpPr txBox="true"/>
            <p:nvPr/>
          </p:nvSpPr>
          <p:spPr>
            <a:xfrm>
              <a:off x="0" y="-38100"/>
              <a:ext cx="4928869" cy="2836564"/>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6338934" y="1902816"/>
            <a:ext cx="5610132" cy="6915417"/>
          </a:xfrm>
          <a:custGeom>
            <a:avLst/>
            <a:gdLst/>
            <a:ahLst/>
            <a:cxnLst/>
            <a:rect r="r" b="b" t="t" l="l"/>
            <a:pathLst>
              <a:path h="6915417" w="5610132">
                <a:moveTo>
                  <a:pt x="0" y="0"/>
                </a:moveTo>
                <a:lnTo>
                  <a:pt x="5610132" y="0"/>
                </a:lnTo>
                <a:lnTo>
                  <a:pt x="5610132" y="6915417"/>
                </a:lnTo>
                <a:lnTo>
                  <a:pt x="0" y="6915417"/>
                </a:lnTo>
                <a:lnTo>
                  <a:pt x="0" y="0"/>
                </a:lnTo>
                <a:close/>
              </a:path>
            </a:pathLst>
          </a:custGeom>
          <a:blipFill>
            <a:blip r:embed="rId2"/>
            <a:stretch>
              <a:fillRect l="0" t="0" r="0" b="0"/>
            </a:stretch>
          </a:blipFill>
          <a:ln w="38100" cap="sq">
            <a:solidFill>
              <a:srgbClr val="000000"/>
            </a:solidFill>
            <a:prstDash val="solid"/>
            <a:miter/>
          </a:ln>
        </p:spPr>
      </p:sp>
      <p:sp>
        <p:nvSpPr>
          <p:cNvPr name="TextBox 6" id="6"/>
          <p:cNvSpPr txBox="true"/>
          <p:nvPr/>
        </p:nvSpPr>
        <p:spPr>
          <a:xfrm rot="0">
            <a:off x="2381459" y="196552"/>
            <a:ext cx="13098781" cy="1502371"/>
          </a:xfrm>
          <a:prstGeom prst="rect">
            <a:avLst/>
          </a:prstGeom>
        </p:spPr>
        <p:txBody>
          <a:bodyPr anchor="t" rtlCol="false" tIns="0" lIns="0" bIns="0" rIns="0">
            <a:spAutoFit/>
          </a:bodyPr>
          <a:lstStyle/>
          <a:p>
            <a:pPr algn="ctr" marL="1906105" indent="-953053" lvl="1">
              <a:lnSpc>
                <a:spcPts val="12360"/>
              </a:lnSpc>
              <a:buAutoNum type="arabicPeriod" startAt="1"/>
            </a:pPr>
            <a:r>
              <a:rPr lang="en-US" sz="8828">
                <a:solidFill>
                  <a:srgbClr val="DB6B48"/>
                </a:solidFill>
                <a:latin typeface="Montserrat"/>
                <a:ea typeface="Montserrat"/>
                <a:cs typeface="Montserrat"/>
                <a:sym typeface="Montserrat"/>
              </a:rPr>
              <a:t>DEMO</a:t>
            </a:r>
          </a:p>
        </p:txBody>
      </p:sp>
      <p:sp>
        <p:nvSpPr>
          <p:cNvPr name="TextBox 7" id="7"/>
          <p:cNvSpPr txBox="true"/>
          <p:nvPr/>
        </p:nvSpPr>
        <p:spPr>
          <a:xfrm rot="0">
            <a:off x="5028696" y="8926876"/>
            <a:ext cx="9561260" cy="973594"/>
          </a:xfrm>
          <a:prstGeom prst="rect">
            <a:avLst/>
          </a:prstGeom>
        </p:spPr>
        <p:txBody>
          <a:bodyPr anchor="t" rtlCol="false" tIns="0" lIns="0" bIns="0" rIns="0">
            <a:spAutoFit/>
          </a:bodyPr>
          <a:lstStyle/>
          <a:p>
            <a:pPr algn="l">
              <a:lnSpc>
                <a:spcPts val="3987"/>
              </a:lnSpc>
            </a:pPr>
            <a:r>
              <a:rPr lang="en-US" sz="2461">
                <a:solidFill>
                  <a:srgbClr val="000000"/>
                </a:solidFill>
                <a:latin typeface="Montserrat"/>
                <a:ea typeface="Montserrat"/>
                <a:cs typeface="Montserrat"/>
                <a:sym typeface="Montserrat"/>
              </a:rPr>
              <a:t>Thực hiện kiểm thử chức năng đăng ký trên website: </a:t>
            </a:r>
          </a:p>
          <a:p>
            <a:pPr algn="l">
              <a:lnSpc>
                <a:spcPts val="3987"/>
              </a:lnSpc>
            </a:pPr>
            <a:r>
              <a:rPr lang="en-US" sz="2461" b="true">
                <a:solidFill>
                  <a:srgbClr val="000000"/>
                </a:solidFill>
                <a:latin typeface="Montserrat Bold"/>
                <a:ea typeface="Montserrat Bold"/>
                <a:cs typeface="Montserrat Bold"/>
                <a:sym typeface="Montserrat Bold"/>
              </a:rPr>
              <a:t>https://practice.qabrains.com/registration</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F9EF"/>
        </a:solidFill>
      </p:bgPr>
    </p:bg>
    <p:spTree>
      <p:nvGrpSpPr>
        <p:cNvPr id="1" name=""/>
        <p:cNvGrpSpPr/>
        <p:nvPr/>
      </p:nvGrpSpPr>
      <p:grpSpPr>
        <a:xfrm>
          <a:off x="0" y="0"/>
          <a:ext cx="0" cy="0"/>
          <a:chOff x="0" y="0"/>
          <a:chExt cx="0" cy="0"/>
        </a:xfrm>
      </p:grpSpPr>
      <p:grpSp>
        <p:nvGrpSpPr>
          <p:cNvPr name="Group 2" id="2"/>
          <p:cNvGrpSpPr/>
          <p:nvPr/>
        </p:nvGrpSpPr>
        <p:grpSpPr>
          <a:xfrm rot="0">
            <a:off x="0" y="0"/>
            <a:ext cx="18714300" cy="10625419"/>
            <a:chOff x="0" y="0"/>
            <a:chExt cx="4928869" cy="2798464"/>
          </a:xfrm>
        </p:grpSpPr>
        <p:sp>
          <p:nvSpPr>
            <p:cNvPr name="Freeform 3" id="3"/>
            <p:cNvSpPr/>
            <p:nvPr/>
          </p:nvSpPr>
          <p:spPr>
            <a:xfrm flipH="false" flipV="false" rot="0">
              <a:off x="0" y="0"/>
              <a:ext cx="4928869" cy="2798464"/>
            </a:xfrm>
            <a:custGeom>
              <a:avLst/>
              <a:gdLst/>
              <a:ahLst/>
              <a:cxnLst/>
              <a:rect r="r" b="b" t="t" l="l"/>
              <a:pathLst>
                <a:path h="2798464" w="4928869">
                  <a:moveTo>
                    <a:pt x="0" y="0"/>
                  </a:moveTo>
                  <a:lnTo>
                    <a:pt x="4928869" y="0"/>
                  </a:lnTo>
                  <a:lnTo>
                    <a:pt x="4928869" y="2798464"/>
                  </a:lnTo>
                  <a:lnTo>
                    <a:pt x="0" y="2798464"/>
                  </a:lnTo>
                  <a:close/>
                </a:path>
              </a:pathLst>
            </a:custGeom>
            <a:solidFill>
              <a:srgbClr val="FFF9EF"/>
            </a:solidFill>
          </p:spPr>
        </p:sp>
        <p:sp>
          <p:nvSpPr>
            <p:cNvPr name="TextBox 4" id="4"/>
            <p:cNvSpPr txBox="true"/>
            <p:nvPr/>
          </p:nvSpPr>
          <p:spPr>
            <a:xfrm>
              <a:off x="0" y="-38100"/>
              <a:ext cx="4928869" cy="2836564"/>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212475" y="1793772"/>
            <a:ext cx="15863051" cy="7671292"/>
          </a:xfrm>
          <a:custGeom>
            <a:avLst/>
            <a:gdLst/>
            <a:ahLst/>
            <a:cxnLst/>
            <a:rect r="r" b="b" t="t" l="l"/>
            <a:pathLst>
              <a:path h="7671292" w="15863051">
                <a:moveTo>
                  <a:pt x="0" y="0"/>
                </a:moveTo>
                <a:lnTo>
                  <a:pt x="15863050" y="0"/>
                </a:lnTo>
                <a:lnTo>
                  <a:pt x="15863050" y="7671292"/>
                </a:lnTo>
                <a:lnTo>
                  <a:pt x="0" y="7671292"/>
                </a:lnTo>
                <a:lnTo>
                  <a:pt x="0" y="0"/>
                </a:lnTo>
                <a:close/>
              </a:path>
            </a:pathLst>
          </a:custGeom>
          <a:blipFill>
            <a:blip r:embed="rId2"/>
            <a:stretch>
              <a:fillRect l="0" t="-274" r="0" b="-274"/>
            </a:stretch>
          </a:blipFill>
          <a:ln w="38100" cap="sq">
            <a:solidFill>
              <a:srgbClr val="000000"/>
            </a:solidFill>
            <a:prstDash val="solid"/>
            <a:miter/>
          </a:ln>
        </p:spPr>
      </p:sp>
      <p:sp>
        <p:nvSpPr>
          <p:cNvPr name="TextBox 6" id="6"/>
          <p:cNvSpPr txBox="true"/>
          <p:nvPr/>
        </p:nvSpPr>
        <p:spPr>
          <a:xfrm rot="0">
            <a:off x="2381459" y="196552"/>
            <a:ext cx="13098781" cy="1502371"/>
          </a:xfrm>
          <a:prstGeom prst="rect">
            <a:avLst/>
          </a:prstGeom>
        </p:spPr>
        <p:txBody>
          <a:bodyPr anchor="t" rtlCol="false" tIns="0" lIns="0" bIns="0" rIns="0">
            <a:spAutoFit/>
          </a:bodyPr>
          <a:lstStyle/>
          <a:p>
            <a:pPr algn="ctr" marL="1906105" indent="-953053" lvl="1">
              <a:lnSpc>
                <a:spcPts val="12360"/>
              </a:lnSpc>
              <a:buAutoNum type="arabicPeriod" startAt="1"/>
            </a:pPr>
            <a:r>
              <a:rPr lang="en-US" sz="8828">
                <a:solidFill>
                  <a:srgbClr val="DB6B48"/>
                </a:solidFill>
                <a:latin typeface="Montserrat"/>
                <a:ea typeface="Montserrat"/>
                <a:cs typeface="Montserrat"/>
                <a:sym typeface="Montserrat"/>
              </a:rPr>
              <a:t>DEMO</a:t>
            </a:r>
          </a:p>
        </p:txBody>
      </p:sp>
      <p:sp>
        <p:nvSpPr>
          <p:cNvPr name="TextBox 7" id="7"/>
          <p:cNvSpPr txBox="true"/>
          <p:nvPr/>
        </p:nvSpPr>
        <p:spPr>
          <a:xfrm rot="0">
            <a:off x="9465814" y="2595043"/>
            <a:ext cx="6578412" cy="529027"/>
          </a:xfrm>
          <a:prstGeom prst="rect">
            <a:avLst/>
          </a:prstGeom>
        </p:spPr>
        <p:txBody>
          <a:bodyPr anchor="t" rtlCol="false" tIns="0" lIns="0" bIns="0" rIns="0">
            <a:spAutoFit/>
          </a:bodyPr>
          <a:lstStyle/>
          <a:p>
            <a:pPr algn="ctr">
              <a:lnSpc>
                <a:spcPts val="4473"/>
              </a:lnSpc>
            </a:pPr>
            <a:r>
              <a:rPr lang="en-US" sz="2761" b="true">
                <a:solidFill>
                  <a:srgbClr val="000000"/>
                </a:solidFill>
                <a:latin typeface="Montserrat Bold"/>
                <a:ea typeface="Montserrat Bold"/>
                <a:cs typeface="Montserrat Bold"/>
                <a:sym typeface="Montserrat Bold"/>
              </a:rPr>
              <a:t>Sơ đồ CFG (Control Flow Graph)</a:t>
            </a:r>
          </a:p>
        </p:txBody>
      </p:sp>
      <p:sp>
        <p:nvSpPr>
          <p:cNvPr name="TextBox 8" id="8"/>
          <p:cNvSpPr txBox="true"/>
          <p:nvPr/>
        </p:nvSpPr>
        <p:spPr>
          <a:xfrm rot="0">
            <a:off x="9892596" y="3235151"/>
            <a:ext cx="5724848" cy="1424859"/>
          </a:xfrm>
          <a:prstGeom prst="rect">
            <a:avLst/>
          </a:prstGeom>
        </p:spPr>
        <p:txBody>
          <a:bodyPr anchor="t" rtlCol="false" tIns="0" lIns="0" bIns="0" rIns="0">
            <a:spAutoFit/>
          </a:bodyPr>
          <a:lstStyle/>
          <a:p>
            <a:pPr algn="ctr">
              <a:lnSpc>
                <a:spcPts val="3893"/>
              </a:lnSpc>
            </a:pPr>
            <a:r>
              <a:rPr lang="en-US" sz="2403">
                <a:solidFill>
                  <a:srgbClr val="000000"/>
                </a:solidFill>
                <a:latin typeface="Montserrat"/>
                <a:ea typeface="Montserrat"/>
                <a:cs typeface="Montserrat"/>
                <a:sym typeface="Montserrat"/>
              </a:rPr>
              <a:t>Đồ thị luồng điều khiển</a:t>
            </a:r>
          </a:p>
          <a:p>
            <a:pPr algn="ctr">
              <a:lnSpc>
                <a:spcPts val="3893"/>
              </a:lnSpc>
            </a:pPr>
            <a:r>
              <a:rPr lang="en-US" sz="2403">
                <a:solidFill>
                  <a:srgbClr val="000000"/>
                </a:solidFill>
                <a:latin typeface="Montserrat"/>
                <a:ea typeface="Montserrat"/>
                <a:cs typeface="Montserrat"/>
                <a:sym typeface="Montserrat"/>
              </a:rPr>
              <a:t>Là sơ đồ biểu diễn luồng chạy của chương trình</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F9EF"/>
        </a:solidFill>
      </p:bgPr>
    </p:bg>
    <p:spTree>
      <p:nvGrpSpPr>
        <p:cNvPr id="1" name=""/>
        <p:cNvGrpSpPr/>
        <p:nvPr/>
      </p:nvGrpSpPr>
      <p:grpSpPr>
        <a:xfrm>
          <a:off x="0" y="0"/>
          <a:ext cx="0" cy="0"/>
          <a:chOff x="0" y="0"/>
          <a:chExt cx="0" cy="0"/>
        </a:xfrm>
      </p:grpSpPr>
      <p:grpSp>
        <p:nvGrpSpPr>
          <p:cNvPr name="Group 2" id="2"/>
          <p:cNvGrpSpPr/>
          <p:nvPr/>
        </p:nvGrpSpPr>
        <p:grpSpPr>
          <a:xfrm rot="0">
            <a:off x="293333" y="-169209"/>
            <a:ext cx="18714300" cy="10625419"/>
            <a:chOff x="0" y="0"/>
            <a:chExt cx="4928869" cy="2798464"/>
          </a:xfrm>
        </p:grpSpPr>
        <p:sp>
          <p:nvSpPr>
            <p:cNvPr name="Freeform 3" id="3"/>
            <p:cNvSpPr/>
            <p:nvPr/>
          </p:nvSpPr>
          <p:spPr>
            <a:xfrm flipH="false" flipV="false" rot="0">
              <a:off x="0" y="0"/>
              <a:ext cx="4928869" cy="2798464"/>
            </a:xfrm>
            <a:custGeom>
              <a:avLst/>
              <a:gdLst/>
              <a:ahLst/>
              <a:cxnLst/>
              <a:rect r="r" b="b" t="t" l="l"/>
              <a:pathLst>
                <a:path h="2798464" w="4928869">
                  <a:moveTo>
                    <a:pt x="0" y="0"/>
                  </a:moveTo>
                  <a:lnTo>
                    <a:pt x="4928869" y="0"/>
                  </a:lnTo>
                  <a:lnTo>
                    <a:pt x="4928869" y="2798464"/>
                  </a:lnTo>
                  <a:lnTo>
                    <a:pt x="0" y="2798464"/>
                  </a:lnTo>
                  <a:close/>
                </a:path>
              </a:pathLst>
            </a:custGeom>
            <a:solidFill>
              <a:srgbClr val="FFF9EF"/>
            </a:solidFill>
          </p:spPr>
        </p:sp>
        <p:sp>
          <p:nvSpPr>
            <p:cNvPr name="TextBox 4" id="4"/>
            <p:cNvSpPr txBox="true"/>
            <p:nvPr/>
          </p:nvSpPr>
          <p:spPr>
            <a:xfrm>
              <a:off x="0" y="-38100"/>
              <a:ext cx="4928869" cy="2836564"/>
            </a:xfrm>
            <a:prstGeom prst="rect">
              <a:avLst/>
            </a:prstGeom>
          </p:spPr>
          <p:txBody>
            <a:bodyPr anchor="ctr" rtlCol="false" tIns="50800" lIns="50800" bIns="50800" rIns="50800"/>
            <a:lstStyle/>
            <a:p>
              <a:pPr algn="ctr">
                <a:lnSpc>
                  <a:spcPts val="2659"/>
                </a:lnSpc>
                <a:spcBef>
                  <a:spcPct val="0"/>
                </a:spcBef>
              </a:pPr>
            </a:p>
          </p:txBody>
        </p:sp>
      </p:grpSp>
      <p:graphicFrame>
        <p:nvGraphicFramePr>
          <p:cNvPr name="Object 5" id="5"/>
          <p:cNvGraphicFramePr/>
          <p:nvPr/>
        </p:nvGraphicFramePr>
        <p:xfrm>
          <a:off x="2012776" y="2790217"/>
          <a:ext cx="3771900" cy="5029200"/>
        </p:xfrm>
        <a:graphic>
          <a:graphicData uri="http://schemas.openxmlformats.org/presentationml/2006/ole">
            <p:oleObj imgW="4775200" imgH="60325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graphicFrame>
        <p:nvGraphicFramePr>
          <p:cNvPr name="Object 6" id="6"/>
          <p:cNvGraphicFramePr/>
          <p:nvPr/>
        </p:nvGraphicFramePr>
        <p:xfrm>
          <a:off x="9883018" y="2790217"/>
          <a:ext cx="3291840" cy="8229600"/>
        </p:xfrm>
        <a:graphic>
          <a:graphicData uri="http://schemas.openxmlformats.org/presentationml/2006/ole">
            <p:oleObj imgW="4927600" imgH="9867900" r:id="rId5" progId="Excel.Sheet.12" name="Worksheet">
              <p:embed/>
              <p:pic>
                <p:nvPicPr>
                  <p:cNvPr name="" id="0"/>
                  <p:cNvPicPr/>
                  <p:nvPr/>
                </p:nvPicPr>
                <p:blipFill>
                  <a:blip r:embed="rId4"/>
                  <a:stretch>
                    <a:fillRect/>
                  </a:stretch>
                </p:blipFill>
                <p:spPr>
                  <a:xfrm>
                    <a:off x="1270000" y="1270000"/>
                    <a:ext cx="1270000" cy="1270000"/>
                  </a:xfrm>
                  <a:prstGeom prst="rect"/>
                </p:spPr>
              </p:pic>
            </p:oleObj>
          </a:graphicData>
        </a:graphic>
      </p:graphicFrame>
      <p:sp>
        <p:nvSpPr>
          <p:cNvPr name="TextBox 7" id="7"/>
          <p:cNvSpPr txBox="true"/>
          <p:nvPr/>
        </p:nvSpPr>
        <p:spPr>
          <a:xfrm rot="0">
            <a:off x="2381459" y="196552"/>
            <a:ext cx="13098781" cy="1502371"/>
          </a:xfrm>
          <a:prstGeom prst="rect">
            <a:avLst/>
          </a:prstGeom>
        </p:spPr>
        <p:txBody>
          <a:bodyPr anchor="t" rtlCol="false" tIns="0" lIns="0" bIns="0" rIns="0">
            <a:spAutoFit/>
          </a:bodyPr>
          <a:lstStyle/>
          <a:p>
            <a:pPr algn="ctr" marL="1906105" indent="-953053" lvl="1">
              <a:lnSpc>
                <a:spcPts val="12360"/>
              </a:lnSpc>
              <a:buAutoNum type="arabicPeriod" startAt="1"/>
            </a:pPr>
            <a:r>
              <a:rPr lang="en-US" sz="8828">
                <a:solidFill>
                  <a:srgbClr val="DB6B48"/>
                </a:solidFill>
                <a:latin typeface="Montserrat"/>
                <a:ea typeface="Montserrat"/>
                <a:cs typeface="Montserrat"/>
                <a:sym typeface="Montserrat"/>
              </a:rPr>
              <a:t>DEMO</a:t>
            </a:r>
          </a:p>
        </p:txBody>
      </p:sp>
      <p:sp>
        <p:nvSpPr>
          <p:cNvPr name="TextBox 8" id="8"/>
          <p:cNvSpPr txBox="true"/>
          <p:nvPr/>
        </p:nvSpPr>
        <p:spPr>
          <a:xfrm rot="0">
            <a:off x="3050212" y="1768039"/>
            <a:ext cx="6578412" cy="529027"/>
          </a:xfrm>
          <a:prstGeom prst="rect">
            <a:avLst/>
          </a:prstGeom>
        </p:spPr>
        <p:txBody>
          <a:bodyPr anchor="t" rtlCol="false" tIns="0" lIns="0" bIns="0" rIns="0">
            <a:spAutoFit/>
          </a:bodyPr>
          <a:lstStyle/>
          <a:p>
            <a:pPr algn="ctr">
              <a:lnSpc>
                <a:spcPts val="4473"/>
              </a:lnSpc>
            </a:pPr>
            <a:r>
              <a:rPr lang="en-US" sz="2761" b="true">
                <a:solidFill>
                  <a:srgbClr val="000000"/>
                </a:solidFill>
                <a:latin typeface="Montserrat Bold"/>
                <a:ea typeface="Montserrat Bold"/>
                <a:cs typeface="Montserrat Bold"/>
                <a:sym typeface="Montserrat Bold"/>
              </a:rPr>
              <a:t>Path coverage</a:t>
            </a:r>
          </a:p>
        </p:txBody>
      </p:sp>
      <p:sp>
        <p:nvSpPr>
          <p:cNvPr name="TextBox 9" id="9"/>
          <p:cNvSpPr txBox="true"/>
          <p:nvPr/>
        </p:nvSpPr>
        <p:spPr>
          <a:xfrm rot="0">
            <a:off x="8290491" y="1889729"/>
            <a:ext cx="8968809" cy="738475"/>
          </a:xfrm>
          <a:prstGeom prst="rect">
            <a:avLst/>
          </a:prstGeom>
        </p:spPr>
        <p:txBody>
          <a:bodyPr anchor="t" rtlCol="false" tIns="0" lIns="0" bIns="0" rIns="0">
            <a:spAutoFit/>
          </a:bodyPr>
          <a:lstStyle/>
          <a:p>
            <a:pPr algn="ctr">
              <a:lnSpc>
                <a:spcPts val="3028"/>
              </a:lnSpc>
            </a:pPr>
            <a:r>
              <a:rPr lang="en-US" sz="1869">
                <a:solidFill>
                  <a:srgbClr val="000000"/>
                </a:solidFill>
                <a:latin typeface="Montserrat"/>
                <a:ea typeface="Montserrat"/>
                <a:cs typeface="Montserrat"/>
                <a:sym typeface="Montserrat"/>
              </a:rPr>
              <a:t>Là kỹ thuật kiểm thử đảm bảo tất cả các đường đi (path) trong chương trình đều được test</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F9EF"/>
        </a:solidFill>
      </p:bgPr>
    </p:bg>
    <p:spTree>
      <p:nvGrpSpPr>
        <p:cNvPr id="1" name=""/>
        <p:cNvGrpSpPr/>
        <p:nvPr/>
      </p:nvGrpSpPr>
      <p:grpSpPr>
        <a:xfrm>
          <a:off x="0" y="0"/>
          <a:ext cx="0" cy="0"/>
          <a:chOff x="0" y="0"/>
          <a:chExt cx="0" cy="0"/>
        </a:xfrm>
      </p:grpSpPr>
      <p:grpSp>
        <p:nvGrpSpPr>
          <p:cNvPr name="Group 2" id="2"/>
          <p:cNvGrpSpPr/>
          <p:nvPr/>
        </p:nvGrpSpPr>
        <p:grpSpPr>
          <a:xfrm rot="0">
            <a:off x="0" y="0"/>
            <a:ext cx="18714300" cy="10625419"/>
            <a:chOff x="0" y="0"/>
            <a:chExt cx="4928869" cy="2798464"/>
          </a:xfrm>
        </p:grpSpPr>
        <p:sp>
          <p:nvSpPr>
            <p:cNvPr name="Freeform 3" id="3"/>
            <p:cNvSpPr/>
            <p:nvPr/>
          </p:nvSpPr>
          <p:spPr>
            <a:xfrm flipH="false" flipV="false" rot="0">
              <a:off x="0" y="0"/>
              <a:ext cx="4928869" cy="2798464"/>
            </a:xfrm>
            <a:custGeom>
              <a:avLst/>
              <a:gdLst/>
              <a:ahLst/>
              <a:cxnLst/>
              <a:rect r="r" b="b" t="t" l="l"/>
              <a:pathLst>
                <a:path h="2798464" w="4928869">
                  <a:moveTo>
                    <a:pt x="0" y="0"/>
                  </a:moveTo>
                  <a:lnTo>
                    <a:pt x="4928869" y="0"/>
                  </a:lnTo>
                  <a:lnTo>
                    <a:pt x="4928869" y="2798464"/>
                  </a:lnTo>
                  <a:lnTo>
                    <a:pt x="0" y="2798464"/>
                  </a:lnTo>
                  <a:close/>
                </a:path>
              </a:pathLst>
            </a:custGeom>
            <a:solidFill>
              <a:srgbClr val="FFF9EF"/>
            </a:solidFill>
          </p:spPr>
        </p:sp>
        <p:sp>
          <p:nvSpPr>
            <p:cNvPr name="TextBox 4" id="4"/>
            <p:cNvSpPr txBox="true"/>
            <p:nvPr/>
          </p:nvSpPr>
          <p:spPr>
            <a:xfrm>
              <a:off x="0" y="-38100"/>
              <a:ext cx="4928869" cy="2836564"/>
            </a:xfrm>
            <a:prstGeom prst="rect">
              <a:avLst/>
            </a:prstGeom>
          </p:spPr>
          <p:txBody>
            <a:bodyPr anchor="ctr" rtlCol="false" tIns="50800" lIns="50800" bIns="50800" rIns="50800"/>
            <a:lstStyle/>
            <a:p>
              <a:pPr algn="ctr">
                <a:lnSpc>
                  <a:spcPts val="2659"/>
                </a:lnSpc>
                <a:spcBef>
                  <a:spcPct val="0"/>
                </a:spcBef>
              </a:pPr>
            </a:p>
          </p:txBody>
        </p:sp>
      </p:grpSp>
      <p:graphicFrame>
        <p:nvGraphicFramePr>
          <p:cNvPr name="Object 5" id="5"/>
          <p:cNvGraphicFramePr/>
          <p:nvPr/>
        </p:nvGraphicFramePr>
        <p:xfrm>
          <a:off x="254672" y="1346692"/>
          <a:ext cx="22755225" cy="10223468"/>
        </p:xfrm>
        <a:graphic>
          <a:graphicData uri="http://schemas.openxmlformats.org/presentationml/2006/ole">
            <p:oleObj imgW="27305000" imgH="147701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6" id="6"/>
          <p:cNvSpPr txBox="true"/>
          <p:nvPr/>
        </p:nvSpPr>
        <p:spPr>
          <a:xfrm rot="0">
            <a:off x="3944285" y="-32578"/>
            <a:ext cx="10399430" cy="1207087"/>
          </a:xfrm>
          <a:prstGeom prst="rect">
            <a:avLst/>
          </a:prstGeom>
        </p:spPr>
        <p:txBody>
          <a:bodyPr anchor="t" rtlCol="false" tIns="0" lIns="0" bIns="0" rIns="0">
            <a:spAutoFit/>
          </a:bodyPr>
          <a:lstStyle/>
          <a:p>
            <a:pPr algn="ctr" marL="1513302" indent="-756651" lvl="1">
              <a:lnSpc>
                <a:spcPts val="9812"/>
              </a:lnSpc>
              <a:buAutoNum type="arabicPeriod" startAt="1"/>
            </a:pPr>
            <a:r>
              <a:rPr lang="en-US" sz="7009">
                <a:solidFill>
                  <a:srgbClr val="DB6B48"/>
                </a:solidFill>
                <a:latin typeface="Montserrat"/>
                <a:ea typeface="Montserrat"/>
                <a:cs typeface="Montserrat"/>
                <a:sym typeface="Montserrat"/>
              </a:rPr>
              <a:t>DEMO</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F9EF"/>
        </a:solidFill>
      </p:bgPr>
    </p:bg>
    <p:spTree>
      <p:nvGrpSpPr>
        <p:cNvPr id="1" name=""/>
        <p:cNvGrpSpPr/>
        <p:nvPr/>
      </p:nvGrpSpPr>
      <p:grpSpPr>
        <a:xfrm>
          <a:off x="0" y="0"/>
          <a:ext cx="0" cy="0"/>
          <a:chOff x="0" y="0"/>
          <a:chExt cx="0" cy="0"/>
        </a:xfrm>
      </p:grpSpPr>
      <p:grpSp>
        <p:nvGrpSpPr>
          <p:cNvPr name="Group 2" id="2"/>
          <p:cNvGrpSpPr/>
          <p:nvPr/>
        </p:nvGrpSpPr>
        <p:grpSpPr>
          <a:xfrm rot="0">
            <a:off x="0" y="0"/>
            <a:ext cx="18714300" cy="10625419"/>
            <a:chOff x="0" y="0"/>
            <a:chExt cx="4928869" cy="2798464"/>
          </a:xfrm>
        </p:grpSpPr>
        <p:sp>
          <p:nvSpPr>
            <p:cNvPr name="Freeform 3" id="3"/>
            <p:cNvSpPr/>
            <p:nvPr/>
          </p:nvSpPr>
          <p:spPr>
            <a:xfrm flipH="false" flipV="false" rot="0">
              <a:off x="0" y="0"/>
              <a:ext cx="4928869" cy="2798464"/>
            </a:xfrm>
            <a:custGeom>
              <a:avLst/>
              <a:gdLst/>
              <a:ahLst/>
              <a:cxnLst/>
              <a:rect r="r" b="b" t="t" l="l"/>
              <a:pathLst>
                <a:path h="2798464" w="4928869">
                  <a:moveTo>
                    <a:pt x="0" y="0"/>
                  </a:moveTo>
                  <a:lnTo>
                    <a:pt x="4928869" y="0"/>
                  </a:lnTo>
                  <a:lnTo>
                    <a:pt x="4928869" y="2798464"/>
                  </a:lnTo>
                  <a:lnTo>
                    <a:pt x="0" y="2798464"/>
                  </a:lnTo>
                  <a:close/>
                </a:path>
              </a:pathLst>
            </a:custGeom>
            <a:solidFill>
              <a:srgbClr val="FFF9EF"/>
            </a:solidFill>
          </p:spPr>
        </p:sp>
        <p:sp>
          <p:nvSpPr>
            <p:cNvPr name="TextBox 4" id="4"/>
            <p:cNvSpPr txBox="true"/>
            <p:nvPr/>
          </p:nvSpPr>
          <p:spPr>
            <a:xfrm>
              <a:off x="0" y="-38100"/>
              <a:ext cx="4928869" cy="2836564"/>
            </a:xfrm>
            <a:prstGeom prst="rect">
              <a:avLst/>
            </a:prstGeom>
          </p:spPr>
          <p:txBody>
            <a:bodyPr anchor="ctr" rtlCol="false" tIns="50800" lIns="50800" bIns="50800" rIns="50800"/>
            <a:lstStyle/>
            <a:p>
              <a:pPr algn="ctr">
                <a:lnSpc>
                  <a:spcPts val="2659"/>
                </a:lnSpc>
                <a:spcBef>
                  <a:spcPct val="0"/>
                </a:spcBef>
              </a:pPr>
            </a:p>
          </p:txBody>
        </p:sp>
      </p:grpSp>
      <p:graphicFrame>
        <p:nvGraphicFramePr>
          <p:cNvPr name="Object 5" id="5"/>
          <p:cNvGraphicFramePr/>
          <p:nvPr/>
        </p:nvGraphicFramePr>
        <p:xfrm>
          <a:off x="613862" y="1028700"/>
          <a:ext cx="22755225" cy="12458795"/>
        </p:xfrm>
        <a:graphic>
          <a:graphicData uri="http://schemas.openxmlformats.org/presentationml/2006/ole">
            <p:oleObj imgW="27305000" imgH="170053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6" id="6"/>
          <p:cNvSpPr txBox="true"/>
          <p:nvPr/>
        </p:nvSpPr>
        <p:spPr>
          <a:xfrm rot="0">
            <a:off x="4297705" y="-87003"/>
            <a:ext cx="9692590" cy="1115703"/>
          </a:xfrm>
          <a:prstGeom prst="rect">
            <a:avLst/>
          </a:prstGeom>
        </p:spPr>
        <p:txBody>
          <a:bodyPr anchor="t" rtlCol="false" tIns="0" lIns="0" bIns="0" rIns="0">
            <a:spAutoFit/>
          </a:bodyPr>
          <a:lstStyle/>
          <a:p>
            <a:pPr algn="ctr" marL="1410444" indent="-705222" lvl="1">
              <a:lnSpc>
                <a:spcPts val="9146"/>
              </a:lnSpc>
              <a:buAutoNum type="arabicPeriod" startAt="1"/>
            </a:pPr>
            <a:r>
              <a:rPr lang="en-US" sz="6532">
                <a:solidFill>
                  <a:srgbClr val="DB6B48"/>
                </a:solidFill>
                <a:latin typeface="Montserrat"/>
                <a:ea typeface="Montserrat"/>
                <a:cs typeface="Montserrat"/>
                <a:sym typeface="Montserrat"/>
              </a:rPr>
              <a:t>DEMO</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FF9EF"/>
        </a:solidFill>
      </p:bgPr>
    </p:bg>
    <p:spTree>
      <p:nvGrpSpPr>
        <p:cNvPr id="1" name=""/>
        <p:cNvGrpSpPr/>
        <p:nvPr/>
      </p:nvGrpSpPr>
      <p:grpSpPr>
        <a:xfrm>
          <a:off x="0" y="0"/>
          <a:ext cx="0" cy="0"/>
          <a:chOff x="0" y="0"/>
          <a:chExt cx="0" cy="0"/>
        </a:xfrm>
      </p:grpSpPr>
      <p:grpSp>
        <p:nvGrpSpPr>
          <p:cNvPr name="Group 2" id="2"/>
          <p:cNvGrpSpPr/>
          <p:nvPr/>
        </p:nvGrpSpPr>
        <p:grpSpPr>
          <a:xfrm rot="0">
            <a:off x="-213150" y="-169209"/>
            <a:ext cx="18714300" cy="10625419"/>
            <a:chOff x="0" y="0"/>
            <a:chExt cx="4928869" cy="2798464"/>
          </a:xfrm>
        </p:grpSpPr>
        <p:sp>
          <p:nvSpPr>
            <p:cNvPr name="Freeform 3" id="3"/>
            <p:cNvSpPr/>
            <p:nvPr/>
          </p:nvSpPr>
          <p:spPr>
            <a:xfrm flipH="false" flipV="false" rot="0">
              <a:off x="0" y="0"/>
              <a:ext cx="4928869" cy="2798464"/>
            </a:xfrm>
            <a:custGeom>
              <a:avLst/>
              <a:gdLst/>
              <a:ahLst/>
              <a:cxnLst/>
              <a:rect r="r" b="b" t="t" l="l"/>
              <a:pathLst>
                <a:path h="2798464" w="4928869">
                  <a:moveTo>
                    <a:pt x="0" y="0"/>
                  </a:moveTo>
                  <a:lnTo>
                    <a:pt x="4928869" y="0"/>
                  </a:lnTo>
                  <a:lnTo>
                    <a:pt x="4928869" y="2798464"/>
                  </a:lnTo>
                  <a:lnTo>
                    <a:pt x="0" y="2798464"/>
                  </a:lnTo>
                  <a:close/>
                </a:path>
              </a:pathLst>
            </a:custGeom>
            <a:solidFill>
              <a:srgbClr val="FFF9EF"/>
            </a:solidFill>
          </p:spPr>
        </p:sp>
        <p:sp>
          <p:nvSpPr>
            <p:cNvPr name="TextBox 4" id="4"/>
            <p:cNvSpPr txBox="true"/>
            <p:nvPr/>
          </p:nvSpPr>
          <p:spPr>
            <a:xfrm>
              <a:off x="0" y="-38100"/>
              <a:ext cx="4928869" cy="2836564"/>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4532512" y="3120972"/>
            <a:ext cx="9761159" cy="6137328"/>
          </a:xfrm>
          <a:custGeom>
            <a:avLst/>
            <a:gdLst/>
            <a:ahLst/>
            <a:cxnLst/>
            <a:rect r="r" b="b" t="t" l="l"/>
            <a:pathLst>
              <a:path h="6137328" w="9761159">
                <a:moveTo>
                  <a:pt x="0" y="0"/>
                </a:moveTo>
                <a:lnTo>
                  <a:pt x="9761159" y="0"/>
                </a:lnTo>
                <a:lnTo>
                  <a:pt x="9761159" y="6137328"/>
                </a:lnTo>
                <a:lnTo>
                  <a:pt x="0" y="6137328"/>
                </a:lnTo>
                <a:lnTo>
                  <a:pt x="0" y="0"/>
                </a:lnTo>
                <a:close/>
              </a:path>
            </a:pathLst>
          </a:custGeom>
          <a:blipFill>
            <a:blip r:embed="rId2"/>
            <a:stretch>
              <a:fillRect l="0" t="0" r="0" b="0"/>
            </a:stretch>
          </a:blipFill>
        </p:spPr>
      </p:sp>
      <p:sp>
        <p:nvSpPr>
          <p:cNvPr name="TextBox 6" id="6"/>
          <p:cNvSpPr txBox="true"/>
          <p:nvPr/>
        </p:nvSpPr>
        <p:spPr>
          <a:xfrm rot="0">
            <a:off x="2182915" y="195417"/>
            <a:ext cx="13098781" cy="1502371"/>
          </a:xfrm>
          <a:prstGeom prst="rect">
            <a:avLst/>
          </a:prstGeom>
        </p:spPr>
        <p:txBody>
          <a:bodyPr anchor="t" rtlCol="false" tIns="0" lIns="0" bIns="0" rIns="0">
            <a:spAutoFit/>
          </a:bodyPr>
          <a:lstStyle/>
          <a:p>
            <a:pPr algn="ctr" marL="1906105" indent="-953053" lvl="1">
              <a:lnSpc>
                <a:spcPts val="12360"/>
              </a:lnSpc>
              <a:buAutoNum type="arabicPeriod" startAt="1"/>
            </a:pPr>
            <a:r>
              <a:rPr lang="en-US" sz="8828">
                <a:solidFill>
                  <a:srgbClr val="DB6B48"/>
                </a:solidFill>
                <a:latin typeface="Montserrat"/>
                <a:ea typeface="Montserrat"/>
                <a:cs typeface="Montserrat"/>
                <a:sym typeface="Montserrat"/>
              </a:rPr>
              <a:t>DEMO</a:t>
            </a:r>
          </a:p>
        </p:txBody>
      </p:sp>
      <p:sp>
        <p:nvSpPr>
          <p:cNvPr name="TextBox 7" id="7"/>
          <p:cNvSpPr txBox="true"/>
          <p:nvPr/>
        </p:nvSpPr>
        <p:spPr>
          <a:xfrm rot="0">
            <a:off x="5854794" y="2088313"/>
            <a:ext cx="6578412" cy="528968"/>
          </a:xfrm>
          <a:prstGeom prst="rect">
            <a:avLst/>
          </a:prstGeom>
        </p:spPr>
        <p:txBody>
          <a:bodyPr anchor="t" rtlCol="false" tIns="0" lIns="0" bIns="0" rIns="0">
            <a:spAutoFit/>
          </a:bodyPr>
          <a:lstStyle/>
          <a:p>
            <a:pPr algn="ctr">
              <a:lnSpc>
                <a:spcPts val="4473"/>
              </a:lnSpc>
            </a:pPr>
            <a:r>
              <a:rPr lang="en-US" sz="2761">
                <a:solidFill>
                  <a:srgbClr val="000000"/>
                </a:solidFill>
                <a:latin typeface="Montserrat"/>
                <a:ea typeface="Montserrat"/>
                <a:cs typeface="Montserrat"/>
                <a:sym typeface="Montserrat"/>
              </a:rPr>
              <a:t>Kết quả sau khi test</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FF9EF"/>
        </a:solidFill>
      </p:bgPr>
    </p:bg>
    <p:spTree>
      <p:nvGrpSpPr>
        <p:cNvPr id="1" name=""/>
        <p:cNvGrpSpPr/>
        <p:nvPr/>
      </p:nvGrpSpPr>
      <p:grpSpPr>
        <a:xfrm>
          <a:off x="0" y="0"/>
          <a:ext cx="0" cy="0"/>
          <a:chOff x="0" y="0"/>
          <a:chExt cx="0" cy="0"/>
        </a:xfrm>
      </p:grpSpPr>
      <p:grpSp>
        <p:nvGrpSpPr>
          <p:cNvPr name="Group 2" id="2"/>
          <p:cNvGrpSpPr/>
          <p:nvPr/>
        </p:nvGrpSpPr>
        <p:grpSpPr>
          <a:xfrm rot="0">
            <a:off x="-213150" y="-169209"/>
            <a:ext cx="18714300" cy="10625419"/>
            <a:chOff x="0" y="0"/>
            <a:chExt cx="4928869" cy="2798464"/>
          </a:xfrm>
        </p:grpSpPr>
        <p:sp>
          <p:nvSpPr>
            <p:cNvPr name="Freeform 3" id="3"/>
            <p:cNvSpPr/>
            <p:nvPr/>
          </p:nvSpPr>
          <p:spPr>
            <a:xfrm flipH="false" flipV="false" rot="0">
              <a:off x="0" y="0"/>
              <a:ext cx="4928869" cy="2798464"/>
            </a:xfrm>
            <a:custGeom>
              <a:avLst/>
              <a:gdLst/>
              <a:ahLst/>
              <a:cxnLst/>
              <a:rect r="r" b="b" t="t" l="l"/>
              <a:pathLst>
                <a:path h="2798464" w="4928869">
                  <a:moveTo>
                    <a:pt x="0" y="0"/>
                  </a:moveTo>
                  <a:lnTo>
                    <a:pt x="4928869" y="0"/>
                  </a:lnTo>
                  <a:lnTo>
                    <a:pt x="4928869" y="2798464"/>
                  </a:lnTo>
                  <a:lnTo>
                    <a:pt x="0" y="2798464"/>
                  </a:lnTo>
                  <a:close/>
                </a:path>
              </a:pathLst>
            </a:custGeom>
            <a:solidFill>
              <a:srgbClr val="FFF9EF"/>
            </a:solidFill>
          </p:spPr>
        </p:sp>
        <p:sp>
          <p:nvSpPr>
            <p:cNvPr name="TextBox 4" id="4"/>
            <p:cNvSpPr txBox="true"/>
            <p:nvPr/>
          </p:nvSpPr>
          <p:spPr>
            <a:xfrm>
              <a:off x="0" y="-38100"/>
              <a:ext cx="4928869" cy="2836564"/>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93304" y="2617281"/>
            <a:ext cx="11301259" cy="4449871"/>
          </a:xfrm>
          <a:custGeom>
            <a:avLst/>
            <a:gdLst/>
            <a:ahLst/>
            <a:cxnLst/>
            <a:rect r="r" b="b" t="t" l="l"/>
            <a:pathLst>
              <a:path h="4449871" w="11301259">
                <a:moveTo>
                  <a:pt x="0" y="0"/>
                </a:moveTo>
                <a:lnTo>
                  <a:pt x="11301259" y="0"/>
                </a:lnTo>
                <a:lnTo>
                  <a:pt x="11301259" y="4449871"/>
                </a:lnTo>
                <a:lnTo>
                  <a:pt x="0" y="4449871"/>
                </a:lnTo>
                <a:lnTo>
                  <a:pt x="0" y="0"/>
                </a:lnTo>
                <a:close/>
              </a:path>
            </a:pathLst>
          </a:custGeom>
          <a:blipFill>
            <a:blip r:embed="rId2"/>
            <a:stretch>
              <a:fillRect l="0" t="0" r="0" b="0"/>
            </a:stretch>
          </a:blipFill>
          <a:ln w="38100" cap="sq">
            <a:solidFill>
              <a:srgbClr val="000000"/>
            </a:solidFill>
            <a:prstDash val="solid"/>
            <a:miter/>
          </a:ln>
        </p:spPr>
      </p:sp>
      <p:sp>
        <p:nvSpPr>
          <p:cNvPr name="Freeform 6" id="6"/>
          <p:cNvSpPr/>
          <p:nvPr/>
        </p:nvSpPr>
        <p:spPr>
          <a:xfrm flipH="false" flipV="false" rot="0">
            <a:off x="11550526" y="2617281"/>
            <a:ext cx="7220886" cy="4449871"/>
          </a:xfrm>
          <a:custGeom>
            <a:avLst/>
            <a:gdLst/>
            <a:ahLst/>
            <a:cxnLst/>
            <a:rect r="r" b="b" t="t" l="l"/>
            <a:pathLst>
              <a:path h="4449871" w="7220886">
                <a:moveTo>
                  <a:pt x="0" y="0"/>
                </a:moveTo>
                <a:lnTo>
                  <a:pt x="7220886" y="0"/>
                </a:lnTo>
                <a:lnTo>
                  <a:pt x="7220886" y="4449871"/>
                </a:lnTo>
                <a:lnTo>
                  <a:pt x="0" y="4449871"/>
                </a:lnTo>
                <a:lnTo>
                  <a:pt x="0" y="0"/>
                </a:lnTo>
                <a:close/>
              </a:path>
            </a:pathLst>
          </a:custGeom>
          <a:blipFill>
            <a:blip r:embed="rId3"/>
            <a:stretch>
              <a:fillRect l="0" t="0" r="0" b="0"/>
            </a:stretch>
          </a:blipFill>
          <a:ln w="38100" cap="sq">
            <a:solidFill>
              <a:srgbClr val="000000"/>
            </a:solidFill>
            <a:prstDash val="solid"/>
            <a:miter/>
          </a:ln>
        </p:spPr>
      </p:sp>
      <p:sp>
        <p:nvSpPr>
          <p:cNvPr name="TextBox 7" id="7"/>
          <p:cNvSpPr txBox="true"/>
          <p:nvPr/>
        </p:nvSpPr>
        <p:spPr>
          <a:xfrm rot="0">
            <a:off x="2182915" y="195417"/>
            <a:ext cx="13098781" cy="1502371"/>
          </a:xfrm>
          <a:prstGeom prst="rect">
            <a:avLst/>
          </a:prstGeom>
        </p:spPr>
        <p:txBody>
          <a:bodyPr anchor="t" rtlCol="false" tIns="0" lIns="0" bIns="0" rIns="0">
            <a:spAutoFit/>
          </a:bodyPr>
          <a:lstStyle/>
          <a:p>
            <a:pPr algn="ctr" marL="1906105" indent="-953053" lvl="1">
              <a:lnSpc>
                <a:spcPts val="12360"/>
              </a:lnSpc>
              <a:buAutoNum type="arabicPeriod" startAt="1"/>
            </a:pPr>
            <a:r>
              <a:rPr lang="en-US" sz="8828">
                <a:solidFill>
                  <a:srgbClr val="DB6B48"/>
                </a:solidFill>
                <a:latin typeface="Montserrat"/>
                <a:ea typeface="Montserrat"/>
                <a:cs typeface="Montserrat"/>
                <a:sym typeface="Montserrat"/>
              </a:rPr>
              <a:t>DEMO</a:t>
            </a:r>
          </a:p>
        </p:txBody>
      </p:sp>
      <p:sp>
        <p:nvSpPr>
          <p:cNvPr name="TextBox 8" id="8"/>
          <p:cNvSpPr txBox="true"/>
          <p:nvPr/>
        </p:nvSpPr>
        <p:spPr>
          <a:xfrm rot="0">
            <a:off x="5854794" y="1740861"/>
            <a:ext cx="6578412" cy="529027"/>
          </a:xfrm>
          <a:prstGeom prst="rect">
            <a:avLst/>
          </a:prstGeom>
        </p:spPr>
        <p:txBody>
          <a:bodyPr anchor="t" rtlCol="false" tIns="0" lIns="0" bIns="0" rIns="0">
            <a:spAutoFit/>
          </a:bodyPr>
          <a:lstStyle/>
          <a:p>
            <a:pPr algn="ctr">
              <a:lnSpc>
                <a:spcPts val="4473"/>
              </a:lnSpc>
            </a:pPr>
            <a:r>
              <a:rPr lang="en-US" sz="2761">
                <a:solidFill>
                  <a:srgbClr val="000000"/>
                </a:solidFill>
                <a:latin typeface="Montserrat"/>
                <a:ea typeface="Montserrat"/>
                <a:cs typeface="Montserrat"/>
                <a:sym typeface="Montserrat"/>
              </a:rPr>
              <a:t>Độ bao phủ </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13150" y="-169209"/>
            <a:ext cx="18714300" cy="10625419"/>
            <a:chOff x="0" y="0"/>
            <a:chExt cx="4928869" cy="2798464"/>
          </a:xfrm>
        </p:grpSpPr>
        <p:sp>
          <p:nvSpPr>
            <p:cNvPr name="Freeform 3" id="3"/>
            <p:cNvSpPr/>
            <p:nvPr/>
          </p:nvSpPr>
          <p:spPr>
            <a:xfrm flipH="false" flipV="false" rot="0">
              <a:off x="0" y="0"/>
              <a:ext cx="4928869" cy="2798464"/>
            </a:xfrm>
            <a:custGeom>
              <a:avLst/>
              <a:gdLst/>
              <a:ahLst/>
              <a:cxnLst/>
              <a:rect r="r" b="b" t="t" l="l"/>
              <a:pathLst>
                <a:path h="2798464" w="4928869">
                  <a:moveTo>
                    <a:pt x="0" y="0"/>
                  </a:moveTo>
                  <a:lnTo>
                    <a:pt x="4928869" y="0"/>
                  </a:lnTo>
                  <a:lnTo>
                    <a:pt x="4928869" y="2798464"/>
                  </a:lnTo>
                  <a:lnTo>
                    <a:pt x="0" y="2798464"/>
                  </a:lnTo>
                  <a:close/>
                </a:path>
              </a:pathLst>
            </a:custGeom>
            <a:solidFill>
              <a:srgbClr val="FFF9EF"/>
            </a:solidFill>
          </p:spPr>
        </p:sp>
        <p:sp>
          <p:nvSpPr>
            <p:cNvPr name="TextBox 4" id="4"/>
            <p:cNvSpPr txBox="true"/>
            <p:nvPr/>
          </p:nvSpPr>
          <p:spPr>
            <a:xfrm>
              <a:off x="0" y="-38100"/>
              <a:ext cx="4928869" cy="2836564"/>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213836" y="-836018"/>
            <a:ext cx="7938470" cy="11292227"/>
          </a:xfrm>
          <a:custGeom>
            <a:avLst/>
            <a:gdLst/>
            <a:ahLst/>
            <a:cxnLst/>
            <a:rect r="r" b="b" t="t" l="l"/>
            <a:pathLst>
              <a:path h="11292227" w="7938470">
                <a:moveTo>
                  <a:pt x="0" y="0"/>
                </a:moveTo>
                <a:lnTo>
                  <a:pt x="7938470" y="0"/>
                </a:lnTo>
                <a:lnTo>
                  <a:pt x="7938470" y="11292227"/>
                </a:lnTo>
                <a:lnTo>
                  <a:pt x="0" y="11292227"/>
                </a:lnTo>
                <a:lnTo>
                  <a:pt x="0" y="0"/>
                </a:lnTo>
                <a:close/>
              </a:path>
            </a:pathLst>
          </a:custGeom>
          <a:blipFill>
            <a:blip r:embed="rId2"/>
            <a:stretch>
              <a:fillRect l="0" t="-13603" r="-20782" b="-13603"/>
            </a:stretch>
          </a:blipFill>
        </p:spPr>
      </p:sp>
      <p:sp>
        <p:nvSpPr>
          <p:cNvPr name="TextBox 6" id="6"/>
          <p:cNvSpPr txBox="true"/>
          <p:nvPr/>
        </p:nvSpPr>
        <p:spPr>
          <a:xfrm rot="0">
            <a:off x="7100067" y="2337994"/>
            <a:ext cx="10673419" cy="1502371"/>
          </a:xfrm>
          <a:prstGeom prst="rect">
            <a:avLst/>
          </a:prstGeom>
        </p:spPr>
        <p:txBody>
          <a:bodyPr anchor="t" rtlCol="false" tIns="0" lIns="0" bIns="0" rIns="0">
            <a:spAutoFit/>
          </a:bodyPr>
          <a:lstStyle/>
          <a:p>
            <a:pPr algn="ctr" marL="1906105" indent="-953053" lvl="1">
              <a:lnSpc>
                <a:spcPts val="12360"/>
              </a:lnSpc>
              <a:buAutoNum type="arabicPeriod" startAt="1"/>
            </a:pPr>
            <a:r>
              <a:rPr lang="en-US" sz="8828">
                <a:solidFill>
                  <a:srgbClr val="DB6B48"/>
                </a:solidFill>
                <a:latin typeface="Montserrat"/>
                <a:ea typeface="Montserrat"/>
                <a:cs typeface="Montserrat"/>
                <a:sym typeface="Montserrat"/>
              </a:rPr>
              <a:t>KẾT LUẬN</a:t>
            </a:r>
          </a:p>
        </p:txBody>
      </p:sp>
      <p:sp>
        <p:nvSpPr>
          <p:cNvPr name="TextBox 7" id="7"/>
          <p:cNvSpPr txBox="true"/>
          <p:nvPr/>
        </p:nvSpPr>
        <p:spPr>
          <a:xfrm rot="0">
            <a:off x="7984893" y="4674731"/>
            <a:ext cx="9033170" cy="973594"/>
          </a:xfrm>
          <a:prstGeom prst="rect">
            <a:avLst/>
          </a:prstGeom>
        </p:spPr>
        <p:txBody>
          <a:bodyPr anchor="t" rtlCol="false" tIns="0" lIns="0" bIns="0" rIns="0">
            <a:spAutoFit/>
          </a:bodyPr>
          <a:lstStyle/>
          <a:p>
            <a:pPr algn="l" marL="531475" indent="-265738" lvl="1">
              <a:lnSpc>
                <a:spcPts val="3987"/>
              </a:lnSpc>
              <a:buFont typeface="Arial"/>
              <a:buChar char="•"/>
            </a:pPr>
            <a:r>
              <a:rPr lang="en-US" sz="2461">
                <a:solidFill>
                  <a:srgbClr val="000000"/>
                </a:solidFill>
                <a:latin typeface="Montserrat"/>
                <a:ea typeface="Montserrat"/>
                <a:cs typeface="Montserrat"/>
                <a:sym typeface="Montserrat"/>
              </a:rPr>
              <a:t>Unit test + automation test giúp việc kiểm thử trở nên dễ dàng, đỡ tốn thời gian </a:t>
            </a:r>
          </a:p>
        </p:txBody>
      </p:sp>
      <p:sp>
        <p:nvSpPr>
          <p:cNvPr name="TextBox 8" id="8"/>
          <p:cNvSpPr txBox="true"/>
          <p:nvPr/>
        </p:nvSpPr>
        <p:spPr>
          <a:xfrm rot="0">
            <a:off x="7984893" y="6064174"/>
            <a:ext cx="9033170" cy="973594"/>
          </a:xfrm>
          <a:prstGeom prst="rect">
            <a:avLst/>
          </a:prstGeom>
        </p:spPr>
        <p:txBody>
          <a:bodyPr anchor="t" rtlCol="false" tIns="0" lIns="0" bIns="0" rIns="0">
            <a:spAutoFit/>
          </a:bodyPr>
          <a:lstStyle/>
          <a:p>
            <a:pPr algn="l" marL="531475" indent="-265738" lvl="1">
              <a:lnSpc>
                <a:spcPts val="3987"/>
              </a:lnSpc>
              <a:buFont typeface="Arial"/>
              <a:buChar char="•"/>
            </a:pPr>
            <a:r>
              <a:rPr lang="en-US" sz="2461">
                <a:solidFill>
                  <a:srgbClr val="000000"/>
                </a:solidFill>
                <a:latin typeface="Montserrat"/>
                <a:ea typeface="Montserrat"/>
                <a:cs typeface="Montserrat"/>
                <a:sym typeface="Montserrat"/>
              </a:rPr>
              <a:t>Việc sử dụng unit test giúp phát hiển sớm những lỗi tìm ẩn</a:t>
            </a:r>
          </a:p>
        </p:txBody>
      </p:sp>
      <p:sp>
        <p:nvSpPr>
          <p:cNvPr name="TextBox 9" id="9"/>
          <p:cNvSpPr txBox="true"/>
          <p:nvPr/>
        </p:nvSpPr>
        <p:spPr>
          <a:xfrm rot="0">
            <a:off x="7984893" y="7456868"/>
            <a:ext cx="9033170" cy="973594"/>
          </a:xfrm>
          <a:prstGeom prst="rect">
            <a:avLst/>
          </a:prstGeom>
        </p:spPr>
        <p:txBody>
          <a:bodyPr anchor="t" rtlCol="false" tIns="0" lIns="0" bIns="0" rIns="0">
            <a:spAutoFit/>
          </a:bodyPr>
          <a:lstStyle/>
          <a:p>
            <a:pPr algn="l" marL="531475" indent="-265738" lvl="1">
              <a:lnSpc>
                <a:spcPts val="3987"/>
              </a:lnSpc>
              <a:buFont typeface="Arial"/>
              <a:buChar char="•"/>
            </a:pPr>
            <a:r>
              <a:rPr lang="en-US" sz="2461">
                <a:solidFill>
                  <a:srgbClr val="000000"/>
                </a:solidFill>
                <a:latin typeface="Montserrat"/>
                <a:ea typeface="Montserrat"/>
                <a:cs typeface="Montserrat"/>
                <a:sym typeface="Montserrat"/>
              </a:rPr>
              <a:t>Unit test còn giúp giảm rủi ro khi tích hợp , vì unit test sẽ kiểm thử từng phần tử riêng lẻ trong phần mềm. </a:t>
            </a:r>
          </a:p>
        </p:txBody>
      </p:sp>
    </p:spTree>
  </p:cSld>
  <p:clrMapOvr>
    <a:masterClrMapping/>
  </p:clrMapOvr>
</p:sld>
</file>

<file path=ppt/slides/slide14.xml><?xml version="1.0" encoding="utf-8"?>
<p:sld xmlns:p="http://schemas.openxmlformats.org/presentationml/2006/main" xmlns:a="http://schemas.openxmlformats.org/drawingml/2006/main">
  <p:cSld>
    <p:bg>
      <p:bgPr>
        <a:solidFill>
          <a:srgbClr val="FFF9EF"/>
        </a:solidFill>
      </p:bgPr>
    </p:bg>
    <p:spTree>
      <p:nvGrpSpPr>
        <p:cNvPr id="1" name=""/>
        <p:cNvGrpSpPr/>
        <p:nvPr/>
      </p:nvGrpSpPr>
      <p:grpSpPr>
        <a:xfrm>
          <a:off x="0" y="0"/>
          <a:ext cx="0" cy="0"/>
          <a:chOff x="0" y="0"/>
          <a:chExt cx="0" cy="0"/>
        </a:xfrm>
      </p:grpSpPr>
      <p:grpSp>
        <p:nvGrpSpPr>
          <p:cNvPr name="Group 2" id="2"/>
          <p:cNvGrpSpPr/>
          <p:nvPr/>
        </p:nvGrpSpPr>
        <p:grpSpPr>
          <a:xfrm rot="0">
            <a:off x="-213150" y="0"/>
            <a:ext cx="18714300" cy="10625419"/>
            <a:chOff x="0" y="0"/>
            <a:chExt cx="4928869" cy="2798464"/>
          </a:xfrm>
        </p:grpSpPr>
        <p:sp>
          <p:nvSpPr>
            <p:cNvPr name="Freeform 3" id="3"/>
            <p:cNvSpPr/>
            <p:nvPr/>
          </p:nvSpPr>
          <p:spPr>
            <a:xfrm flipH="false" flipV="false" rot="0">
              <a:off x="0" y="0"/>
              <a:ext cx="4928869" cy="2798464"/>
            </a:xfrm>
            <a:custGeom>
              <a:avLst/>
              <a:gdLst/>
              <a:ahLst/>
              <a:cxnLst/>
              <a:rect r="r" b="b" t="t" l="l"/>
              <a:pathLst>
                <a:path h="2798464" w="4928869">
                  <a:moveTo>
                    <a:pt x="0" y="0"/>
                  </a:moveTo>
                  <a:lnTo>
                    <a:pt x="4928869" y="0"/>
                  </a:lnTo>
                  <a:lnTo>
                    <a:pt x="4928869" y="2798464"/>
                  </a:lnTo>
                  <a:lnTo>
                    <a:pt x="0" y="2798464"/>
                  </a:lnTo>
                  <a:close/>
                </a:path>
              </a:pathLst>
            </a:custGeom>
            <a:solidFill>
              <a:srgbClr val="FFF9EF"/>
            </a:solidFill>
          </p:spPr>
        </p:sp>
        <p:sp>
          <p:nvSpPr>
            <p:cNvPr name="TextBox 4" id="4"/>
            <p:cNvSpPr txBox="true"/>
            <p:nvPr/>
          </p:nvSpPr>
          <p:spPr>
            <a:xfrm>
              <a:off x="0" y="-38100"/>
              <a:ext cx="4928869" cy="2836564"/>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4635373" y="2377367"/>
            <a:ext cx="8606400" cy="3580460"/>
          </a:xfrm>
          <a:prstGeom prst="rect">
            <a:avLst/>
          </a:prstGeom>
        </p:spPr>
        <p:txBody>
          <a:bodyPr anchor="t" rtlCol="false" tIns="0" lIns="0" bIns="0" rIns="0">
            <a:spAutoFit/>
          </a:bodyPr>
          <a:lstStyle/>
          <a:p>
            <a:pPr algn="ctr">
              <a:lnSpc>
                <a:spcPts val="9569"/>
              </a:lnSpc>
            </a:pPr>
            <a:r>
              <a:rPr lang="en-US" sz="6835" b="true">
                <a:solidFill>
                  <a:srgbClr val="000000"/>
                </a:solidFill>
                <a:latin typeface="Montserrat Medium"/>
                <a:ea typeface="Montserrat Medium"/>
                <a:cs typeface="Montserrat Medium"/>
                <a:sym typeface="Montserrat Medium"/>
              </a:rPr>
              <a:t>Cảm ơn thầy và các bạn đã lắng nghe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DAG_hmlGX_o</dc:identifier>
  <dcterms:modified xsi:type="dcterms:W3CDTF">2011-08-01T06:04:30Z</dcterms:modified>
  <cp:revision>1</cp:revision>
  <dc:title>PORTFOLIO</dc:title>
</cp:coreProperties>
</file>